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8364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109DC-0DF1-4E49-BDBF-5DCBDBE812F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B4981-2572-4D5B-976F-10ADC0741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4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Cursor</a:t>
            </a:r>
          </a:p>
        </p:txBody>
      </p:sp>
    </p:spTree>
    <p:extLst>
      <p:ext uri="{BB962C8B-B14F-4D97-AF65-F5344CB8AC3E}">
        <p14:creationId xmlns:p14="http://schemas.microsoft.com/office/powerpoint/2010/main" val="1913236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novation Curve">
            <a:extLst>
              <a:ext uri="{FF2B5EF4-FFF2-40B4-BE49-F238E27FC236}">
                <a16:creationId xmlns:a16="http://schemas.microsoft.com/office/drawing/2014/main" id="{9211F747-506E-5ED4-9B68-EE6B3F99C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2983" y="-14748"/>
            <a:ext cx="6872748" cy="687274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506BD0E-4DCD-8BA9-2037-DE975A1F09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4843462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D68B773-8219-9567-613E-7A2F2D4F6C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4843462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B553D8-6E2B-127F-58DE-5165236A2DF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pPr algn="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53B208-9097-2E2C-EC03-BD8A67670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pic>
        <p:nvPicPr>
          <p:cNvPr id="4" name="NTT DATA Global Logo" descr="NTT DATA Logo">
            <a:extLst>
              <a:ext uri="{FF2B5EF4-FFF2-40B4-BE49-F238E27FC236}">
                <a16:creationId xmlns:a16="http://schemas.microsoft.com/office/drawing/2014/main" id="{07CD756B-D053-7A46-EC8E-FF1D6BF1F7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7" name="Info Box">
            <a:extLst>
              <a:ext uri="{FF2B5EF4-FFF2-40B4-BE49-F238E27FC236}">
                <a16:creationId xmlns:a16="http://schemas.microsoft.com/office/drawing/2014/main" id="{3CC8FA91-A78C-BC6E-F17A-FF26055644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101235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373919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P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novation Curve">
            <a:extLst>
              <a:ext uri="{FF2B5EF4-FFF2-40B4-BE49-F238E27FC236}">
                <a16:creationId xmlns:a16="http://schemas.microsoft.com/office/drawing/2014/main" id="{00ADE50C-F63B-648C-9FD0-E0FA384DF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952" y="0"/>
            <a:ext cx="4602549" cy="687628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2ADFA92-0E48-355A-2DA8-D40523A9A8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6969876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8B12889-37ED-D704-59B8-7CECF20BCF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6969876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5333B3-E5F2-A1A8-F59F-D7085B34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0FCC36-8879-E02B-48F4-D31C54AAA16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6696BBEF-690F-3F5E-4ABD-464267D369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  <p:sp>
        <p:nvSpPr>
          <p:cNvPr id="6" name="Info Box">
            <a:extLst>
              <a:ext uri="{FF2B5EF4-FFF2-40B4-BE49-F238E27FC236}">
                <a16:creationId xmlns:a16="http://schemas.microsoft.com/office/drawing/2014/main" id="{A934FE38-155A-D06E-C380-44183B71379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1475" y="5875374"/>
            <a:ext cx="1958400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</p:spTree>
    <p:extLst>
      <p:ext uri="{BB962C8B-B14F-4D97-AF65-F5344CB8AC3E}">
        <p14:creationId xmlns:p14="http://schemas.microsoft.com/office/powerpoint/2010/main" val="222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_Cover_Light_No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9CCA6BB-2FF1-1F79-CE75-4214597FB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80048" y="2438400"/>
            <a:ext cx="11440477" cy="1371600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GB" sz="4400" b="0" i="0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FBC9B23-4469-4B26-BEC9-4E111C2B8F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80048" y="3810000"/>
            <a:ext cx="11440477" cy="353943"/>
          </a:xfrm>
        </p:spPr>
        <p:txBody>
          <a:bodyPr wrap="square" lIns="0" tIns="45720" rIns="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2000" b="0" i="0" dirty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6E1903-FF29-7A88-0707-803367E5E51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898505" y="6563358"/>
            <a:ext cx="92202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6BE1-1DE6-82D8-B7EF-529F2205B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7460FF67-E88C-345F-912C-69776540AF2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5" name="NTT DATA Global Logo">
            <a:extLst>
              <a:ext uri="{FF2B5EF4-FFF2-40B4-BE49-F238E27FC236}">
                <a16:creationId xmlns:a16="http://schemas.microsoft.com/office/drawing/2014/main" id="{2F900288-9276-0271-5B36-DA597F55D4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8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Cover_Light_Imag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2050182"/>
            <a:ext cx="11449049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412875"/>
            <a:ext cx="11449050" cy="651610"/>
          </a:xfrm>
        </p:spPr>
        <p:txBody>
          <a:bodyPr/>
          <a:lstStyle>
            <a:lvl1pPr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Innovation Curve Over">
            <a:extLst>
              <a:ext uri="{FF2B5EF4-FFF2-40B4-BE49-F238E27FC236}">
                <a16:creationId xmlns:a16="http://schemas.microsoft.com/office/drawing/2014/main" id="{0E296AC8-E4D5-3A7F-3C42-CC289AAB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45BFAB-6256-BF35-C9F5-6D558800765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26140" y="3147301"/>
            <a:ext cx="7943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45B6080-7233-0809-75A8-E904530DE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3147301"/>
            <a:ext cx="5123498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10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2" name="Info box">
            <a:extLst>
              <a:ext uri="{FF2B5EF4-FFF2-40B4-BE49-F238E27FC236}">
                <a16:creationId xmlns:a16="http://schemas.microsoft.com/office/drawing/2014/main" id="{979EC8F5-DC72-37F6-85BB-C3ADC50D2D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936479" y="333376"/>
            <a:ext cx="1884045" cy="395869"/>
          </a:xfrm>
          <a:prstGeom prst="rect">
            <a:avLst/>
          </a:prstGeom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B6B6B"/>
                </a:solidFill>
              </a:defRPr>
            </a:lvl1pPr>
          </a:lstStyle>
          <a:p>
            <a:pPr lvl="0"/>
            <a:r>
              <a:rPr lang="en-US" noProof="0"/>
              <a:t>Information Type:</a:t>
            </a:r>
            <a:br>
              <a:rPr lang="en-US" noProof="0"/>
            </a:br>
            <a:r>
              <a:rPr lang="en-US" noProof="0"/>
              <a:t>Company:  </a:t>
            </a:r>
            <a:br>
              <a:rPr lang="en-US" noProof="0"/>
            </a:br>
            <a:r>
              <a:rPr lang="en-US" noProof="0"/>
              <a:t>Information Owner:</a:t>
            </a:r>
          </a:p>
        </p:txBody>
      </p:sp>
      <p:pic>
        <p:nvPicPr>
          <p:cNvPr id="4" name="NTT DATA Global Logo">
            <a:extLst>
              <a:ext uri="{FF2B5EF4-FFF2-40B4-BE49-F238E27FC236}">
                <a16:creationId xmlns:a16="http://schemas.microsoft.com/office/drawing/2014/main" id="{93955C0C-38C4-366F-0C4D-7A71C122ED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320040"/>
            <a:ext cx="1959942" cy="3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6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C3BB7C-B4A7-41A4-8C5A-903570B60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C53063-1F58-BE27-2E94-7E00DE772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1EE05E-1EF3-FA88-09CC-87DB6B58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6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F512-82E1-2689-F640-DDFFDD4C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ED1C7-0FF1-008B-4E0C-83259A7B6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7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_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5507850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A13345-D8EA-438A-8BA9-E88672B7CBE9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gray">
          <a:xfrm>
            <a:off x="6311325" y="1412875"/>
            <a:ext cx="5507850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pt-BR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1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and 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6BC249-E151-BB39-D3D5-813D011EC4DE}"/>
              </a:ext>
            </a:extLst>
          </p:cNvPr>
          <p:cNvSpPr>
            <a:spLocks noGrp="1"/>
          </p:cNvSpPr>
          <p:nvPr>
            <p:ph idx="24" hasCustomPrompt="1"/>
          </p:nvPr>
        </p:nvSpPr>
        <p:spPr bwMode="gray">
          <a:xfrm>
            <a:off x="4267200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AB7751F-4652-AD3B-A81E-E9DD7E8ECF31}"/>
              </a:ext>
            </a:extLst>
          </p:cNvPr>
          <p:cNvSpPr>
            <a:spLocks noGrp="1"/>
          </p:cNvSpPr>
          <p:nvPr>
            <p:ph idx="25" hasCustomPrompt="1"/>
          </p:nvPr>
        </p:nvSpPr>
        <p:spPr bwMode="gray">
          <a:xfrm>
            <a:off x="8162925" y="1412875"/>
            <a:ext cx="3657600" cy="48244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9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Title Subtitle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55BA-9D9E-490E-B438-6BCC818F8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332399"/>
          </a:xfrm>
        </p:spPr>
        <p:txBody>
          <a:bodyPr vert="horz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B3CA-EBF0-4324-BDE2-B14D144F1B7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71474" y="1412875"/>
            <a:ext cx="11449049" cy="482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FAE869D-BCA2-8F0B-47CA-6CBB57962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8F0063-4C19-496F-6F87-6795DABB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9E5DDFBC-BBD8-FCF3-FDD5-BDAF7615B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728663"/>
            <a:ext cx="11449050" cy="28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2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341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Blank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35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Blank_Light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093E97-7B76-EAE6-8B05-F60EEDCE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C15EF50-5A96-90F8-F18A-9D8143A4F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17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Fu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0077599-73C2-4B77-944D-C34B64F408E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chemeClr val="bg1"/>
          </a:solidFill>
        </p:spPr>
        <p:txBody>
          <a:bodyPr anchor="ctr" anchorCtr="0"/>
          <a:lstStyle>
            <a:lvl1pPr algn="ctr">
              <a:defRPr sz="2000">
                <a:solidFill>
                  <a:srgbClr val="0072BC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73574-5E40-4F4B-82BD-ECFABA52E2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CAE21C-42ED-4CFD-A1E1-FE234323EC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0" y="5194300"/>
            <a:ext cx="12192000" cy="16637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F7F56A-370B-17D8-1574-704076541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04D86C-67F3-2898-A9B9-7C78B586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AAC9A100-4458-748B-AE62-3E3DB5DF4514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8431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_Picture Righ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318A9578-38C1-F618-D2D6-E94DBB278B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6E0CB35-CBF9-AFA5-830C-F4D86F0889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815340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5082467D-38B1-0541-A8E7-DD846D36F5B1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879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F7A191D-6071-E779-7F2E-34886D0882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86909" y="333375"/>
            <a:ext cx="7233616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9629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DF90C5-2F99-EF32-CBEA-23287BDE24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338956" y="6563358"/>
            <a:ext cx="3524884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7886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Bottom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008BF2A-3887-409B-2567-9779543E99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121920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A8D542-4123-5D52-32A8-5A10FF2E7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919FBB-9A4E-7FAD-B0F2-5D660792C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685F5729-4D42-77C1-FCC6-A3E027B0D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33375"/>
            <a:ext cx="11449050" cy="792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331DD0DE-B5CC-A60D-D998-80C96B7B6CAD}"/>
              </a:ext>
            </a:extLst>
          </p:cNvPr>
          <p:cNvSpPr txBox="1">
            <a:spLocks noChangeAspect="1"/>
          </p:cNvSpPr>
          <p:nvPr userDrawn="1"/>
        </p:nvSpPr>
        <p:spPr bwMode="gray">
          <a:xfrm>
            <a:off x="10531725" y="6449437"/>
            <a:ext cx="1288800" cy="26310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800" kern="1200">
                <a:noFill/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3pPr>
            <a:lvl4pPr marL="804863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lang="en-US" sz="1600" kern="1200">
                <a:noFill/>
                <a:latin typeface="+mn-lt"/>
                <a:ea typeface="+mn-ea"/>
                <a:cs typeface="+mn-cs"/>
              </a:defRPr>
            </a:lvl4pPr>
            <a:lvl5pPr marL="1077913" indent="-2730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»"/>
              <a:defRPr lang="en-US" sz="1600" kern="1200">
                <a:noFill/>
                <a:latin typeface="+mn-lt"/>
                <a:ea typeface="+mn-ea"/>
                <a:cs typeface="+mn-cs"/>
              </a:defRPr>
            </a:lvl5pPr>
            <a:lvl6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864000" indent="-216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Roboto" panose="02000000000000000000" pitchFamily="2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410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ictures Thre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99AD32-EACB-40FD-ACFA-9178E8D003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73D5620-2B8C-49E1-ADF3-9ADE2BF3B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88000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31D45D1-5334-4DD5-8154-DAD52B3C39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75999" y="1412875"/>
            <a:ext cx="4015999" cy="2772000"/>
          </a:xfrm>
          <a:solidFill>
            <a:schemeClr val="accent6"/>
          </a:solidFill>
        </p:spPr>
        <p:txBody>
          <a:bodyPr anchor="ctr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792201-616E-4C9D-B2C5-4900CE58E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3B8E11-1E99-8E14-7DC2-2A5585E8F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94E80A-235B-AC62-CD2D-E4D54353C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51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Picture Coll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7779" y="3987605"/>
            <a:ext cx="5371355" cy="22496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3" name="Rounded 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49318" y="2163386"/>
            <a:ext cx="2484125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1475" y="333373"/>
            <a:ext cx="4419959" cy="3547536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14" name="Picture Placeholde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49318" y="2140170"/>
            <a:ext cx="2484124" cy="268069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667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photo here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422522"/>
            <a:ext cx="4419959" cy="145838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902048" y="333375"/>
            <a:ext cx="4347085" cy="355569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lIns="108000" anchor="ctr"/>
          <a:lstStyle>
            <a:lvl1pPr marL="0" indent="0" algn="l">
              <a:lnSpc>
                <a:spcPct val="100000"/>
              </a:lnSpc>
              <a:tabLst/>
              <a:defRPr sz="3200" b="1">
                <a:solidFill>
                  <a:schemeClr val="bg1"/>
                </a:solidFill>
                <a:effectLst/>
                <a:latin typeface="+mn-lt"/>
                <a:cs typeface="Arial"/>
              </a:defRPr>
            </a:lvl1pPr>
            <a:lvl2pPr marL="0" indent="0" algn="l">
              <a:lnSpc>
                <a:spcPct val="100000"/>
              </a:lnSpc>
              <a:defRPr>
                <a:solidFill>
                  <a:schemeClr val="bg1"/>
                </a:solidFill>
                <a:effectLst/>
                <a:latin typeface="+mn-lt"/>
                <a:cs typeface="Arial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359747" y="333375"/>
            <a:ext cx="2474100" cy="1700963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359747" y="3744196"/>
            <a:ext cx="2474099" cy="1076667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987606"/>
            <a:ext cx="3420269" cy="2249682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txBody>
          <a:bodyPr lIns="108000" anchor="ctr"/>
          <a:lstStyle>
            <a:lvl1pPr algn="l">
              <a:lnSpc>
                <a:spcPct val="100000"/>
              </a:lnSpc>
              <a:defRPr sz="2667" b="1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877779" y="5399590"/>
            <a:ext cx="5371355" cy="837698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t" anchorCtr="0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9349318" y="4926695"/>
            <a:ext cx="2471207" cy="131059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2133">
                <a:solidFill>
                  <a:schemeClr val="bg1"/>
                </a:solidFill>
                <a:latin typeface="+mn-lt"/>
                <a:cs typeface="Arial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A9505-91C7-B9FF-4651-787D86C3BED1}"/>
              </a:ext>
            </a:extLst>
          </p:cNvPr>
          <p:cNvSpPr txBox="1"/>
          <p:nvPr userDrawn="1"/>
        </p:nvSpPr>
        <p:spPr>
          <a:xfrm>
            <a:off x="3685309" y="-8035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err="1">
              <a:solidFill>
                <a:srgbClr val="FFFFFF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9C35B40-A84A-00D6-5FD3-6FD80F61E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/>
              <a:t>© 2026 NTT DATA, Inc.                  Sensitivity Level: CONFIDENTIAL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FC1EFC3-6CA1-181A-9D7F-24D4581B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71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Whi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TT DATA Global Logo">
            <a:extLst>
              <a:ext uri="{FF2B5EF4-FFF2-40B4-BE49-F238E27FC236}">
                <a16:creationId xmlns:a16="http://schemas.microsoft.com/office/drawing/2014/main" id="{01F40004-0B55-0534-B49E-3160E9FA2E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3287" y="2880000"/>
            <a:ext cx="5385427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22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_Closing Slide Future Blue with Picture L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98CC4E28-4615-54DE-9A23-19AE8504C324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 bwMode="black">
          <a:xfrm>
            <a:off x="3403200" y="2879266"/>
            <a:ext cx="5385600" cy="109946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 sz="200">
                <a:solidFill>
                  <a:schemeClr val="accent2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B17ABEB-CE11-6DFE-1EDF-82662ED8C9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3160149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95128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 Text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BAA2EA5-06E3-8691-22FA-AE783265C8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accent6"/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E201FA-14DE-26F5-5B59-34540918F7C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0" y="5202000"/>
            <a:ext cx="4038600" cy="1656000"/>
          </a:xfrm>
          <a:gradFill>
            <a:gsLst>
              <a:gs pos="0">
                <a:schemeClr val="accent1"/>
              </a:gs>
              <a:gs pos="80000">
                <a:schemeClr val="accent1">
                  <a:alpha val="0"/>
                </a:schemeClr>
              </a:gs>
            </a:gsLst>
            <a:lin ang="16200000" scaled="1"/>
          </a:gradFill>
        </p:spPr>
        <p:txBody>
          <a:bodyPr vert="horz" wrap="square" lIns="0" tIns="0" rIns="0" bIns="0" rtlCol="0">
            <a:noAutofit/>
          </a:bodyPr>
          <a:lstStyle>
            <a:lvl1pPr>
              <a:defRPr lang="en-US" sz="1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495800" y="6563358"/>
            <a:ext cx="320294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77162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Curve on Righ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597D1B3A-E1F6-AFF4-3A3F-A37A17CBC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86000"/>
            <a:ext cx="7315200" cy="3886200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5" name="Section Number">
            <a:extLst>
              <a:ext uri="{FF2B5EF4-FFF2-40B4-BE49-F238E27FC236}">
                <a16:creationId xmlns:a16="http://schemas.microsoft.com/office/drawing/2014/main" id="{353938DB-D71F-BCC9-253A-E90421933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D78CB3-8E2A-426A-73F0-19178ABA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D19329-B7C0-CE48-A2F3-05D87FD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8E54CF47-5670-1E36-A01C-CE6BD5FD4E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3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Divider_Innovation Curve Image Lef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25B5FD-E0E9-1E4B-5EFE-D46E0910A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433116"/>
            <a:ext cx="7315200" cy="3739084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Divider Page</a:t>
            </a:r>
          </a:p>
        </p:txBody>
      </p:sp>
      <p:sp>
        <p:nvSpPr>
          <p:cNvPr id="12" name="Section Number">
            <a:extLst>
              <a:ext uri="{FF2B5EF4-FFF2-40B4-BE49-F238E27FC236}">
                <a16:creationId xmlns:a16="http://schemas.microsoft.com/office/drawing/2014/main" id="{4337322C-F1A6-A8D5-2662-80C365ECE1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1" dirty="0" smtClean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#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795E080-1F31-4238-044C-F377C0E2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218376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CFAEF6-C002-CEF8-D12E-35B10EFF2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E44EF5E-6648-1398-B4E7-717D749EE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575" y="2447060"/>
            <a:ext cx="3718800" cy="3718800"/>
          </a:xfrm>
          <a:prstGeom prst="rect">
            <a:avLst/>
          </a:prstGeom>
        </p:spPr>
      </p:pic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74CB7FF-BF38-583F-EB84-775D76F699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475" y="2447060"/>
            <a:ext cx="3718800" cy="3718800"/>
          </a:xfrm>
          <a:custGeom>
            <a:avLst/>
            <a:gdLst>
              <a:gd name="connsiteX0" fmla="*/ 1704548 w 5267271"/>
              <a:gd name="connsiteY0" fmla="*/ 0 h 5272719"/>
              <a:gd name="connsiteX1" fmla="*/ 3527745 w 5267271"/>
              <a:gd name="connsiteY1" fmla="*/ 1774521 h 5272719"/>
              <a:gd name="connsiteX2" fmla="*/ 5267271 w 5267271"/>
              <a:gd name="connsiteY2" fmla="*/ 5269498 h 5272719"/>
              <a:gd name="connsiteX3" fmla="*/ 3509088 w 5267271"/>
              <a:gd name="connsiteY3" fmla="*/ 5269044 h 5272719"/>
              <a:gd name="connsiteX4" fmla="*/ 1794302 w 5267271"/>
              <a:gd name="connsiteY4" fmla="*/ 1858626 h 5272719"/>
              <a:gd name="connsiteX5" fmla="*/ 1794667 w 5267271"/>
              <a:gd name="connsiteY5" fmla="*/ 5270472 h 5272719"/>
              <a:gd name="connsiteX6" fmla="*/ 0 w 5267271"/>
              <a:gd name="connsiteY6" fmla="*/ 5272719 h 5272719"/>
              <a:gd name="connsiteX7" fmla="*/ 3384 w 5267271"/>
              <a:gd name="connsiteY7" fmla="*/ 1714773 h 5272719"/>
              <a:gd name="connsiteX8" fmla="*/ 569360 w 5267271"/>
              <a:gd name="connsiteY8" fmla="*/ 333790 h 5272719"/>
              <a:gd name="connsiteX9" fmla="*/ 1704548 w 5267271"/>
              <a:gd name="connsiteY9" fmla="*/ 0 h 527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67271" h="5272719">
                <a:moveTo>
                  <a:pt x="1704548" y="0"/>
                </a:moveTo>
                <a:cubicBezTo>
                  <a:pt x="2442328" y="19929"/>
                  <a:pt x="2925708" y="438914"/>
                  <a:pt x="3527745" y="1774521"/>
                </a:cubicBezTo>
                <a:lnTo>
                  <a:pt x="5267271" y="5269498"/>
                </a:lnTo>
                <a:lnTo>
                  <a:pt x="3509088" y="5269044"/>
                </a:lnTo>
                <a:cubicBezTo>
                  <a:pt x="2932089" y="4085847"/>
                  <a:pt x="2376159" y="3052885"/>
                  <a:pt x="1794302" y="1858626"/>
                </a:cubicBezTo>
                <a:cubicBezTo>
                  <a:pt x="1800510" y="2806405"/>
                  <a:pt x="1797959" y="3550976"/>
                  <a:pt x="1794667" y="5270472"/>
                </a:cubicBezTo>
                <a:lnTo>
                  <a:pt x="0" y="5272719"/>
                </a:lnTo>
                <a:cubicBezTo>
                  <a:pt x="6041" y="3933998"/>
                  <a:pt x="-2660" y="3106972"/>
                  <a:pt x="3384" y="1714773"/>
                </a:cubicBezTo>
                <a:cubicBezTo>
                  <a:pt x="20552" y="931022"/>
                  <a:pt x="285832" y="562108"/>
                  <a:pt x="569360" y="333790"/>
                </a:cubicBezTo>
                <a:cubicBezTo>
                  <a:pt x="852888" y="105472"/>
                  <a:pt x="1272212" y="9538"/>
                  <a:pt x="1704548" y="0"/>
                </a:cubicBezTo>
                <a:close/>
              </a:path>
            </a:pathLst>
          </a:custGeom>
          <a:solidFill>
            <a:schemeClr val="accent6"/>
          </a:solidFill>
          <a:ln w="12700">
            <a:noFill/>
          </a:ln>
          <a:effectLst/>
        </p:spPr>
        <p:txBody>
          <a:bodyPr wrap="none" lIns="0" tIns="1371600" rIns="0" anchor="t">
            <a:noAutofit/>
          </a:bodyPr>
          <a:lstStyle>
            <a:lvl1pPr marL="0" indent="0" algn="ctr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85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4404F-43CD-40C8-B408-4B36050B404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33375"/>
            <a:ext cx="11449050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4632A-2918-4D07-821E-9CC4B7A378D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12875"/>
            <a:ext cx="11449050" cy="48244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B7396-CF44-41A3-ABC7-B95299F0C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1475" y="6563358"/>
            <a:ext cx="4852035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r>
              <a:rPr lang="en-US" noProof="0"/>
              <a:t>© 2026 NTT DATA, Inc.                  Sensitivity Level: CONFIDENTIAL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3A65-CACD-4E1E-A1C2-FC8F9891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43600" y="6563358"/>
            <a:ext cx="304800" cy="889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lnSpc>
                <a:spcPct val="100000"/>
              </a:lnSpc>
              <a:defRPr sz="800">
                <a:solidFill>
                  <a:srgbClr val="6B6B6B"/>
                </a:solidFill>
              </a:defRPr>
            </a:lvl1pPr>
          </a:lstStyle>
          <a:p>
            <a:fld id="{13CE6DAF-806F-404B-BC68-339BFCB57E5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fik 6" descr="NTT DATA Logo">
            <a:extLst>
              <a:ext uri="{FF2B5EF4-FFF2-40B4-BE49-F238E27FC236}">
                <a16:creationId xmlns:a16="http://schemas.microsoft.com/office/drawing/2014/main" id="{1DB40E02-E43E-21B5-7D2A-60B35F0977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31554" y="6449745"/>
            <a:ext cx="1288971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3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»"/>
        <a:defRPr lang="en-US" sz="1600" kern="1200" dirty="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Roboto" panose="02000000000000000000" pitchFamily="2" charset="0"/>
        <a:buChar char="–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3" orient="horz" pos="890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234">
          <p15:clr>
            <a:srgbClr val="F26B43"/>
          </p15:clr>
        </p15:guide>
        <p15:guide id="6" pos="3840">
          <p15:clr>
            <a:srgbClr val="F26B43"/>
          </p15:clr>
        </p15:guide>
        <p15:guide id="8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31EEF88A-7301-C78F-7150-398B333202D2}"/>
              </a:ext>
            </a:extLst>
          </p:cNvPr>
          <p:cNvSpPr/>
          <p:nvPr/>
        </p:nvSpPr>
        <p:spPr>
          <a:xfrm>
            <a:off x="83439" y="1161287"/>
            <a:ext cx="12023217" cy="419708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1" name="Shape 3">
            <a:extLst>
              <a:ext uri="{FF2B5EF4-FFF2-40B4-BE49-F238E27FC236}">
                <a16:creationId xmlns:a16="http://schemas.microsoft.com/office/drawing/2014/main" id="{A78B9135-FDE2-C01B-D79F-67517B70F9D9}"/>
              </a:ext>
            </a:extLst>
          </p:cNvPr>
          <p:cNvSpPr/>
          <p:nvPr/>
        </p:nvSpPr>
        <p:spPr>
          <a:xfrm>
            <a:off x="28575" y="2921508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13108-0C82-62B7-7ACC-360852B89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8652F5-64CC-FA9D-ACD2-89347968F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8134937-3BBE-DF60-67AA-B08DACB36AF3}"/>
              </a:ext>
            </a:extLst>
          </p:cNvPr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5F6A0A1-DABF-FE4A-6926-9C2AF0899CA0}"/>
              </a:ext>
            </a:extLst>
          </p:cNvPr>
          <p:cNvSpPr/>
          <p:nvPr/>
        </p:nvSpPr>
        <p:spPr>
          <a:xfrm>
            <a:off x="0" y="1861947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4865AC9-C203-B313-5216-9CD754A770B8}"/>
              </a:ext>
            </a:extLst>
          </p:cNvPr>
          <p:cNvSpPr/>
          <p:nvPr/>
        </p:nvSpPr>
        <p:spPr>
          <a:xfrm>
            <a:off x="0" y="3826383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6A47B80-8194-5255-712B-4D3ACBF8A0BE}"/>
              </a:ext>
            </a:extLst>
          </p:cNvPr>
          <p:cNvSpPr/>
          <p:nvPr/>
        </p:nvSpPr>
        <p:spPr>
          <a:xfrm>
            <a:off x="0" y="4952619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C5BDC00-3494-7AE9-A5CC-4943E806A15B}"/>
              </a:ext>
            </a:extLst>
          </p:cNvPr>
          <p:cNvSpPr/>
          <p:nvPr/>
        </p:nvSpPr>
        <p:spPr>
          <a:xfrm>
            <a:off x="0" y="5983605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8B43ABC-1217-522C-E64F-CC9165382E03}"/>
              </a:ext>
            </a:extLst>
          </p:cNvPr>
          <p:cNvSpPr/>
          <p:nvPr/>
        </p:nvSpPr>
        <p:spPr>
          <a:xfrm>
            <a:off x="0" y="6473952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9010588E-8179-0994-E00B-F815222C2A87}"/>
              </a:ext>
            </a:extLst>
          </p:cNvPr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CB58A84-05B0-41DA-5693-DCA73AD346FA}"/>
              </a:ext>
            </a:extLst>
          </p:cNvPr>
          <p:cNvSpPr/>
          <p:nvPr/>
        </p:nvSpPr>
        <p:spPr>
          <a:xfrm>
            <a:off x="228599" y="201168"/>
            <a:ext cx="67532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5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Calibri" pitchFamily="34" charset="-122"/>
                <a:cs typeface="Calibri" pitchFamily="34" charset="-120"/>
              </a:rPr>
              <a:t>AI LED RCM OPERATING MODEL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60D2AEB-D608-C61C-6FCC-91916ED4BE0C}"/>
              </a:ext>
            </a:extLst>
          </p:cNvPr>
          <p:cNvSpPr/>
          <p:nvPr/>
        </p:nvSpPr>
        <p:spPr>
          <a:xfrm>
            <a:off x="228600" y="4572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Management Operating Model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717232B8-D738-CA0B-F492-D526CF621C57}"/>
              </a:ext>
            </a:extLst>
          </p:cNvPr>
          <p:cNvSpPr/>
          <p:nvPr/>
        </p:nvSpPr>
        <p:spPr>
          <a:xfrm>
            <a:off x="228600" y="923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autonomous “Neurostack” platform overlaying Epic  ·  Eligibility through Collections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8EE85969-2528-1DE1-29AB-22ACECED757D}"/>
              </a:ext>
            </a:extLst>
          </p:cNvPr>
          <p:cNvSpPr/>
          <p:nvPr/>
        </p:nvSpPr>
        <p:spPr>
          <a:xfrm>
            <a:off x="8869680" y="182880"/>
            <a:ext cx="777240" cy="749808"/>
          </a:xfrm>
          <a:prstGeom prst="rect">
            <a:avLst/>
          </a:prstGeom>
          <a:solidFill>
            <a:srgbClr val="132236"/>
          </a:solidFill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DB6D3EE-93DB-435C-6748-A5434C8105B0}"/>
              </a:ext>
            </a:extLst>
          </p:cNvPr>
          <p:cNvSpPr/>
          <p:nvPr/>
        </p:nvSpPr>
        <p:spPr>
          <a:xfrm>
            <a:off x="8869680" y="237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B242370-30BE-A4BD-711B-67164FE73E22}"/>
              </a:ext>
            </a:extLst>
          </p:cNvPr>
          <p:cNvSpPr/>
          <p:nvPr/>
        </p:nvSpPr>
        <p:spPr>
          <a:xfrm>
            <a:off x="8869680" y="612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Clean Claim Rate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38FF52F8-22B6-9F98-A884-FD0DA73BFB2E}"/>
              </a:ext>
            </a:extLst>
          </p:cNvPr>
          <p:cNvSpPr/>
          <p:nvPr/>
        </p:nvSpPr>
        <p:spPr>
          <a:xfrm>
            <a:off x="9710928" y="182880"/>
            <a:ext cx="777240" cy="749808"/>
          </a:xfrm>
          <a:prstGeom prst="rect">
            <a:avLst/>
          </a:prstGeom>
          <a:solidFill>
            <a:srgbClr val="132236"/>
          </a:solidFill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0B87AD7-C31F-8EDA-064E-2EF082D4DC10}"/>
              </a:ext>
            </a:extLst>
          </p:cNvPr>
          <p:cNvSpPr/>
          <p:nvPr/>
        </p:nvSpPr>
        <p:spPr>
          <a:xfrm>
            <a:off x="9710928" y="237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764C9C8-7C77-FA3F-C314-FD3BC1F7CACA}"/>
              </a:ext>
            </a:extLst>
          </p:cNvPr>
          <p:cNvSpPr/>
          <p:nvPr/>
        </p:nvSpPr>
        <p:spPr>
          <a:xfrm>
            <a:off x="9710928" y="612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Days in A/R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30390712-9FB9-F0E0-FDA1-17B455CE28D6}"/>
              </a:ext>
            </a:extLst>
          </p:cNvPr>
          <p:cNvSpPr/>
          <p:nvPr/>
        </p:nvSpPr>
        <p:spPr>
          <a:xfrm>
            <a:off x="10552176" y="182880"/>
            <a:ext cx="777240" cy="749808"/>
          </a:xfrm>
          <a:prstGeom prst="rect">
            <a:avLst/>
          </a:prstGeom>
          <a:solidFill>
            <a:srgbClr val="132236"/>
          </a:solidFill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AFEC45DA-83F1-4F31-E7DA-BEAFDF2C8585}"/>
              </a:ext>
            </a:extLst>
          </p:cNvPr>
          <p:cNvSpPr/>
          <p:nvPr/>
        </p:nvSpPr>
        <p:spPr>
          <a:xfrm>
            <a:off x="10552176" y="237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87AA3CC0-4A65-8D54-EEB4-461EEF090658}"/>
              </a:ext>
            </a:extLst>
          </p:cNvPr>
          <p:cNvSpPr/>
          <p:nvPr/>
        </p:nvSpPr>
        <p:spPr>
          <a:xfrm>
            <a:off x="10552176" y="612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9972824A-0C66-80C3-D76D-2594CB211D89}"/>
              </a:ext>
            </a:extLst>
          </p:cNvPr>
          <p:cNvSpPr/>
          <p:nvPr/>
        </p:nvSpPr>
        <p:spPr>
          <a:xfrm>
            <a:off x="11393424" y="182880"/>
            <a:ext cx="777240" cy="749808"/>
          </a:xfrm>
          <a:prstGeom prst="rect">
            <a:avLst/>
          </a:prstGeom>
          <a:solidFill>
            <a:srgbClr val="132236"/>
          </a:solidFill>
          <a:ln w="10160">
            <a:solidFill>
              <a:srgbClr val="1E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A682342E-404D-7215-BA18-75754C5A7BEC}"/>
              </a:ext>
            </a:extLst>
          </p:cNvPr>
          <p:cNvSpPr/>
          <p:nvPr/>
        </p:nvSpPr>
        <p:spPr>
          <a:xfrm>
            <a:off x="11393424" y="237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F00D3225-7EE7-9EEB-6E83-13747670CC98}"/>
              </a:ext>
            </a:extLst>
          </p:cNvPr>
          <p:cNvSpPr/>
          <p:nvPr/>
        </p:nvSpPr>
        <p:spPr>
          <a:xfrm>
            <a:off x="11393424" y="612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 Collections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09B42ABC-981E-EB6D-B8E5-17306B853786}"/>
              </a:ext>
            </a:extLst>
          </p:cNvPr>
          <p:cNvSpPr/>
          <p:nvPr/>
        </p:nvSpPr>
        <p:spPr>
          <a:xfrm>
            <a:off x="182880" y="1261872"/>
            <a:ext cx="11795760" cy="1024128"/>
          </a:xfrm>
          <a:prstGeom prst="rect">
            <a:avLst/>
          </a:prstGeom>
          <a:solidFill>
            <a:srgbClr val="0A1628"/>
          </a:solidFill>
          <a:ln w="10160">
            <a:solidFill>
              <a:srgbClr val="5B5B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07F017FD-A9D8-6C61-EDFE-B19A00C767BA}"/>
              </a:ext>
            </a:extLst>
          </p:cNvPr>
          <p:cNvSpPr/>
          <p:nvPr/>
        </p:nvSpPr>
        <p:spPr>
          <a:xfrm>
            <a:off x="182880" y="1261872"/>
            <a:ext cx="64008" cy="1024128"/>
          </a:xfrm>
          <a:prstGeom prst="rect">
            <a:avLst/>
          </a:prstGeom>
          <a:solidFill>
            <a:srgbClr val="5B5BF6"/>
          </a:solidFill>
          <a:ln w="12700">
            <a:solidFill>
              <a:srgbClr val="5B5B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E824C966-6B53-A304-AD9B-4D9390DA6F0A}"/>
              </a:ext>
            </a:extLst>
          </p:cNvPr>
          <p:cNvSpPr/>
          <p:nvPr/>
        </p:nvSpPr>
        <p:spPr>
          <a:xfrm>
            <a:off x="347472" y="1316736"/>
            <a:ext cx="4114800" cy="11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INTELLIGENCE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4A9F0719-D9C3-83F0-A417-C7F46FD64F0F}"/>
              </a:ext>
            </a:extLst>
          </p:cNvPr>
          <p:cNvSpPr/>
          <p:nvPr/>
        </p:nvSpPr>
        <p:spPr>
          <a:xfrm>
            <a:off x="10789920" y="1298448"/>
            <a:ext cx="1143000" cy="201168"/>
          </a:xfrm>
          <a:prstGeom prst="rect">
            <a:avLst/>
          </a:prstGeom>
          <a:solidFill>
            <a:srgbClr val="5B5BF6">
              <a:alpha val="18000"/>
            </a:srgbClr>
          </a:solidFill>
          <a:ln w="7620">
            <a:solidFill>
              <a:srgbClr val="5B5B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2814788C-0CF9-CB4F-E8A8-B15846EA9178}"/>
              </a:ext>
            </a:extLst>
          </p:cNvPr>
          <p:cNvSpPr/>
          <p:nvPr/>
        </p:nvSpPr>
        <p:spPr>
          <a:xfrm>
            <a:off x="10789920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B5B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30B0AD0F-25E2-59D1-4728-3D1C25E4EC37}"/>
              </a:ext>
            </a:extLst>
          </p:cNvPr>
          <p:cNvSpPr/>
          <p:nvPr/>
        </p:nvSpPr>
        <p:spPr>
          <a:xfrm>
            <a:off x="347472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04374D5A-58A9-65B3-2644-B867C5E60F43}"/>
              </a:ext>
            </a:extLst>
          </p:cNvPr>
          <p:cNvSpPr/>
          <p:nvPr/>
        </p:nvSpPr>
        <p:spPr>
          <a:xfrm>
            <a:off x="1517904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654C9879-AB72-AE9E-D679-A30BBAEE375F}"/>
              </a:ext>
            </a:extLst>
          </p:cNvPr>
          <p:cNvSpPr/>
          <p:nvPr/>
        </p:nvSpPr>
        <p:spPr>
          <a:xfrm>
            <a:off x="347472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B75B4260-7FA6-8794-4554-456B5C55D999}"/>
              </a:ext>
            </a:extLst>
          </p:cNvPr>
          <p:cNvSpPr/>
          <p:nvPr/>
        </p:nvSpPr>
        <p:spPr>
          <a:xfrm>
            <a:off x="402336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C2D4C8BF-172E-A3EE-3B56-9DEEB3612F5A}"/>
              </a:ext>
            </a:extLst>
          </p:cNvPr>
          <p:cNvSpPr/>
          <p:nvPr/>
        </p:nvSpPr>
        <p:spPr>
          <a:xfrm>
            <a:off x="402336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92FC9802-9D8B-E31A-2388-B3669FCFEA69}"/>
              </a:ext>
            </a:extLst>
          </p:cNvPr>
          <p:cNvSpPr/>
          <p:nvPr/>
        </p:nvSpPr>
        <p:spPr>
          <a:xfrm>
            <a:off x="1737360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4D2E5D49-A4E1-5C3D-693A-83C05A005DC0}"/>
              </a:ext>
            </a:extLst>
          </p:cNvPr>
          <p:cNvSpPr/>
          <p:nvPr/>
        </p:nvSpPr>
        <p:spPr>
          <a:xfrm>
            <a:off x="2907792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DA0B4125-9A72-87FA-3C96-51827864EEF2}"/>
              </a:ext>
            </a:extLst>
          </p:cNvPr>
          <p:cNvSpPr/>
          <p:nvPr/>
        </p:nvSpPr>
        <p:spPr>
          <a:xfrm>
            <a:off x="1737360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2EA8118A-61B1-377E-B3AC-4F997FAE16F8}"/>
              </a:ext>
            </a:extLst>
          </p:cNvPr>
          <p:cNvSpPr/>
          <p:nvPr/>
        </p:nvSpPr>
        <p:spPr>
          <a:xfrm>
            <a:off x="1792224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 Auth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33BF2BAD-EBBC-986D-73DE-8A0BE32473C5}"/>
              </a:ext>
            </a:extLst>
          </p:cNvPr>
          <p:cNvSpPr/>
          <p:nvPr/>
        </p:nvSpPr>
        <p:spPr>
          <a:xfrm>
            <a:off x="1792224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&amp;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track PA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2860D3DA-5D1D-2A89-2F72-07057EB6B03F}"/>
              </a:ext>
            </a:extLst>
          </p:cNvPr>
          <p:cNvSpPr/>
          <p:nvPr/>
        </p:nvSpPr>
        <p:spPr>
          <a:xfrm>
            <a:off x="3127248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605E5E9A-6824-D239-8B14-B5C3A141F3B0}"/>
              </a:ext>
            </a:extLst>
          </p:cNvPr>
          <p:cNvSpPr/>
          <p:nvPr/>
        </p:nvSpPr>
        <p:spPr>
          <a:xfrm>
            <a:off x="4297680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C38F8775-1FDF-8A14-AFE9-6DCAEC4EEC4D}"/>
              </a:ext>
            </a:extLst>
          </p:cNvPr>
          <p:cNvSpPr/>
          <p:nvPr/>
        </p:nvSpPr>
        <p:spPr>
          <a:xfrm>
            <a:off x="3127248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FBB2B770-01C4-F02A-6B18-8E9CC46AB00B}"/>
              </a:ext>
            </a:extLst>
          </p:cNvPr>
          <p:cNvSpPr/>
          <p:nvPr/>
        </p:nvSpPr>
        <p:spPr>
          <a:xfrm>
            <a:off x="3182112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CDI / Coding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2EAF37D7-5D15-ECFE-6772-E6E8265AD390}"/>
              </a:ext>
            </a:extLst>
          </p:cNvPr>
          <p:cNvSpPr/>
          <p:nvPr/>
        </p:nvSpPr>
        <p:spPr>
          <a:xfrm>
            <a:off x="3182112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ICD-10, CPT,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HCC from notes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C4C9B421-0746-7D96-8F31-65691DC2C8DB}"/>
              </a:ext>
            </a:extLst>
          </p:cNvPr>
          <p:cNvSpPr/>
          <p:nvPr/>
        </p:nvSpPr>
        <p:spPr>
          <a:xfrm>
            <a:off x="4517136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45">
            <a:extLst>
              <a:ext uri="{FF2B5EF4-FFF2-40B4-BE49-F238E27FC236}">
                <a16:creationId xmlns:a16="http://schemas.microsoft.com/office/drawing/2014/main" id="{7BE578EA-8610-8008-106D-C15C84E41BB3}"/>
              </a:ext>
            </a:extLst>
          </p:cNvPr>
          <p:cNvSpPr/>
          <p:nvPr/>
        </p:nvSpPr>
        <p:spPr>
          <a:xfrm>
            <a:off x="5687568" y="1563624"/>
            <a:ext cx="82296" cy="82296"/>
          </a:xfrm>
          <a:prstGeom prst="ellipse">
            <a:avLst/>
          </a:prstGeom>
          <a:solidFill>
            <a:srgbClr val="8888A0"/>
          </a:solidFill>
          <a:ln w="12700">
            <a:solidFill>
              <a:srgbClr val="8888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2D1E1862-6063-2583-E58D-9598E6867CD9}"/>
              </a:ext>
            </a:extLst>
          </p:cNvPr>
          <p:cNvSpPr/>
          <p:nvPr/>
        </p:nvSpPr>
        <p:spPr>
          <a:xfrm>
            <a:off x="4517136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BE17492F-F02C-D685-9847-AAC365E13FCA}"/>
              </a:ext>
            </a:extLst>
          </p:cNvPr>
          <p:cNvSpPr/>
          <p:nvPr/>
        </p:nvSpPr>
        <p:spPr>
          <a:xfrm>
            <a:off x="4572000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 Capture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Text 48">
            <a:extLst>
              <a:ext uri="{FF2B5EF4-FFF2-40B4-BE49-F238E27FC236}">
                <a16:creationId xmlns:a16="http://schemas.microsoft.com/office/drawing/2014/main" id="{19B3B7D4-84D3-61D1-5B30-6AE1D5BD35F5}"/>
              </a:ext>
            </a:extLst>
          </p:cNvPr>
          <p:cNvSpPr/>
          <p:nvPr/>
        </p:nvSpPr>
        <p:spPr>
          <a:xfrm>
            <a:off x="4572000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Missing charge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D959A628-620F-88DA-F4BD-C99DF6018A5C}"/>
              </a:ext>
            </a:extLst>
          </p:cNvPr>
          <p:cNvSpPr/>
          <p:nvPr/>
        </p:nvSpPr>
        <p:spPr>
          <a:xfrm>
            <a:off x="5907024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3ADF0229-848C-DDBC-69E3-2D9AD674356C}"/>
              </a:ext>
            </a:extLst>
          </p:cNvPr>
          <p:cNvSpPr/>
          <p:nvPr/>
        </p:nvSpPr>
        <p:spPr>
          <a:xfrm>
            <a:off x="7077456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034B1874-7C6A-F87E-7FCE-F466140C0269}"/>
              </a:ext>
            </a:extLst>
          </p:cNvPr>
          <p:cNvSpPr/>
          <p:nvPr/>
        </p:nvSpPr>
        <p:spPr>
          <a:xfrm>
            <a:off x="5907024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52">
            <a:extLst>
              <a:ext uri="{FF2B5EF4-FFF2-40B4-BE49-F238E27FC236}">
                <a16:creationId xmlns:a16="http://schemas.microsoft.com/office/drawing/2014/main" id="{2AF8D829-4CF5-4838-7C28-D72D5768DA05}"/>
              </a:ext>
            </a:extLst>
          </p:cNvPr>
          <p:cNvSpPr/>
          <p:nvPr/>
        </p:nvSpPr>
        <p:spPr>
          <a:xfrm>
            <a:off x="5961888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 53">
            <a:extLst>
              <a:ext uri="{FF2B5EF4-FFF2-40B4-BE49-F238E27FC236}">
                <a16:creationId xmlns:a16="http://schemas.microsoft.com/office/drawing/2014/main" id="{555E54E1-A29B-7F32-32AD-CFB941A4D48D}"/>
              </a:ext>
            </a:extLst>
          </p:cNvPr>
          <p:cNvSpPr/>
          <p:nvPr/>
        </p:nvSpPr>
        <p:spPr>
          <a:xfrm>
            <a:off x="5961888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Scrub, validate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submit 837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44B76E2A-3C53-D11C-0176-CCB65F16B027}"/>
              </a:ext>
            </a:extLst>
          </p:cNvPr>
          <p:cNvSpPr/>
          <p:nvPr/>
        </p:nvSpPr>
        <p:spPr>
          <a:xfrm>
            <a:off x="7296912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B36D1DB2-FBF8-4F0B-22B4-C2FB8C471BB2}"/>
              </a:ext>
            </a:extLst>
          </p:cNvPr>
          <p:cNvSpPr/>
          <p:nvPr/>
        </p:nvSpPr>
        <p:spPr>
          <a:xfrm>
            <a:off x="8467344" y="1563624"/>
            <a:ext cx="82296" cy="82296"/>
          </a:xfrm>
          <a:prstGeom prst="ellipse">
            <a:avLst/>
          </a:prstGeom>
          <a:solidFill>
            <a:srgbClr val="F06030"/>
          </a:solidFill>
          <a:ln w="12700">
            <a:solidFill>
              <a:srgbClr val="F060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38DE72AB-90BC-C592-73AD-4D85D7EA0B7C}"/>
              </a:ext>
            </a:extLst>
          </p:cNvPr>
          <p:cNvSpPr/>
          <p:nvPr/>
        </p:nvSpPr>
        <p:spPr>
          <a:xfrm>
            <a:off x="7296912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8D7DFD28-E0AE-F0CF-6280-2D41AC976CBC}"/>
              </a:ext>
            </a:extLst>
          </p:cNvPr>
          <p:cNvSpPr/>
          <p:nvPr/>
        </p:nvSpPr>
        <p:spPr>
          <a:xfrm>
            <a:off x="7351776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 Mgmt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58">
            <a:extLst>
              <a:ext uri="{FF2B5EF4-FFF2-40B4-BE49-F238E27FC236}">
                <a16:creationId xmlns:a16="http://schemas.microsoft.com/office/drawing/2014/main" id="{DA5D759F-3AAD-AEF5-50BA-85E5935E82EA}"/>
              </a:ext>
            </a:extLst>
          </p:cNvPr>
          <p:cNvSpPr/>
          <p:nvPr/>
        </p:nvSpPr>
        <p:spPr>
          <a:xfrm>
            <a:off x="7351776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auto-appeal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Shape 59">
            <a:extLst>
              <a:ext uri="{FF2B5EF4-FFF2-40B4-BE49-F238E27FC236}">
                <a16:creationId xmlns:a16="http://schemas.microsoft.com/office/drawing/2014/main" id="{D45CA84C-6B9B-7592-2627-06C9121A0063}"/>
              </a:ext>
            </a:extLst>
          </p:cNvPr>
          <p:cNvSpPr/>
          <p:nvPr/>
        </p:nvSpPr>
        <p:spPr>
          <a:xfrm>
            <a:off x="8686800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Shape 60">
            <a:extLst>
              <a:ext uri="{FF2B5EF4-FFF2-40B4-BE49-F238E27FC236}">
                <a16:creationId xmlns:a16="http://schemas.microsoft.com/office/drawing/2014/main" id="{A0A2F295-BE9C-7C0B-7D23-640B765EC17E}"/>
              </a:ext>
            </a:extLst>
          </p:cNvPr>
          <p:cNvSpPr/>
          <p:nvPr/>
        </p:nvSpPr>
        <p:spPr>
          <a:xfrm>
            <a:off x="9857232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Text 61">
            <a:extLst>
              <a:ext uri="{FF2B5EF4-FFF2-40B4-BE49-F238E27FC236}">
                <a16:creationId xmlns:a16="http://schemas.microsoft.com/office/drawing/2014/main" id="{85FE5DDB-83D0-F799-CFF5-BAC69661332B}"/>
              </a:ext>
            </a:extLst>
          </p:cNvPr>
          <p:cNvSpPr/>
          <p:nvPr/>
        </p:nvSpPr>
        <p:spPr>
          <a:xfrm>
            <a:off x="8686800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 62">
            <a:extLst>
              <a:ext uri="{FF2B5EF4-FFF2-40B4-BE49-F238E27FC236}">
                <a16:creationId xmlns:a16="http://schemas.microsoft.com/office/drawing/2014/main" id="{37BD63F2-9C8D-9C11-74DC-45071CBB34A8}"/>
              </a:ext>
            </a:extLst>
          </p:cNvPr>
          <p:cNvSpPr/>
          <p:nvPr/>
        </p:nvSpPr>
        <p:spPr>
          <a:xfrm>
            <a:off x="8741664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Posting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 63">
            <a:extLst>
              <a:ext uri="{FF2B5EF4-FFF2-40B4-BE49-F238E27FC236}">
                <a16:creationId xmlns:a16="http://schemas.microsoft.com/office/drawing/2014/main" id="{F2BC00AC-7272-E782-1940-2627880A8342}"/>
              </a:ext>
            </a:extLst>
          </p:cNvPr>
          <p:cNvSpPr/>
          <p:nvPr/>
        </p:nvSpPr>
        <p:spPr>
          <a:xfrm>
            <a:off x="8741664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ERA/EOB match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variance flag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17FED9B1-3B2D-42F5-CBD6-95BD9D0AFE4D}"/>
              </a:ext>
            </a:extLst>
          </p:cNvPr>
          <p:cNvSpPr/>
          <p:nvPr/>
        </p:nvSpPr>
        <p:spPr>
          <a:xfrm>
            <a:off x="10076688" y="1499616"/>
            <a:ext cx="1335024" cy="713232"/>
          </a:xfrm>
          <a:prstGeom prst="rect">
            <a:avLst/>
          </a:prstGeom>
          <a:solidFill>
            <a:srgbClr val="0D1F35"/>
          </a:solidFill>
          <a:ln w="7620">
            <a:solidFill>
              <a:schemeClr val="accent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Shape 65">
            <a:extLst>
              <a:ext uri="{FF2B5EF4-FFF2-40B4-BE49-F238E27FC236}">
                <a16:creationId xmlns:a16="http://schemas.microsoft.com/office/drawing/2014/main" id="{C9F8C4C8-E18F-9CCB-CA3A-A976C073CB3E}"/>
              </a:ext>
            </a:extLst>
          </p:cNvPr>
          <p:cNvSpPr/>
          <p:nvPr/>
        </p:nvSpPr>
        <p:spPr>
          <a:xfrm>
            <a:off x="11247120" y="1563624"/>
            <a:ext cx="82296" cy="82296"/>
          </a:xfrm>
          <a:prstGeom prst="ellipse">
            <a:avLst/>
          </a:prstGeom>
          <a:solidFill>
            <a:srgbClr val="1CD97A"/>
          </a:solidFill>
          <a:ln w="12700">
            <a:solidFill>
              <a:srgbClr val="1CD9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 66">
            <a:extLst>
              <a:ext uri="{FF2B5EF4-FFF2-40B4-BE49-F238E27FC236}">
                <a16:creationId xmlns:a16="http://schemas.microsoft.com/office/drawing/2014/main" id="{A94B2531-F807-62C1-1698-CD1659885762}"/>
              </a:ext>
            </a:extLst>
          </p:cNvPr>
          <p:cNvSpPr/>
          <p:nvPr/>
        </p:nvSpPr>
        <p:spPr>
          <a:xfrm>
            <a:off x="10076688" y="155448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Text 67">
            <a:extLst>
              <a:ext uri="{FF2B5EF4-FFF2-40B4-BE49-F238E27FC236}">
                <a16:creationId xmlns:a16="http://schemas.microsoft.com/office/drawing/2014/main" id="{F69F42E9-F4BD-13B9-A58A-7F5A1A667E66}"/>
              </a:ext>
            </a:extLst>
          </p:cNvPr>
          <p:cNvSpPr/>
          <p:nvPr/>
        </p:nvSpPr>
        <p:spPr>
          <a:xfrm>
            <a:off x="10131552" y="175564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12539EE1-EB16-EC7A-7AE0-60D4558D9669}"/>
              </a:ext>
            </a:extLst>
          </p:cNvPr>
          <p:cNvSpPr/>
          <p:nvPr/>
        </p:nvSpPr>
        <p:spPr>
          <a:xfrm>
            <a:off x="10131552" y="19491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A7F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outreach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Shape 69">
            <a:extLst>
              <a:ext uri="{FF2B5EF4-FFF2-40B4-BE49-F238E27FC236}">
                <a16:creationId xmlns:a16="http://schemas.microsoft.com/office/drawing/2014/main" id="{79D38ADC-868A-22DD-E239-2FFA907C16FC}"/>
              </a:ext>
            </a:extLst>
          </p:cNvPr>
          <p:cNvSpPr/>
          <p:nvPr/>
        </p:nvSpPr>
        <p:spPr>
          <a:xfrm>
            <a:off x="5852160" y="2304288"/>
            <a:ext cx="0" cy="118872"/>
          </a:xfrm>
          <a:prstGeom prst="line">
            <a:avLst/>
          </a:prstGeom>
          <a:noFill/>
          <a:ln w="1524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70">
            <a:extLst>
              <a:ext uri="{FF2B5EF4-FFF2-40B4-BE49-F238E27FC236}">
                <a16:creationId xmlns:a16="http://schemas.microsoft.com/office/drawing/2014/main" id="{F535865F-0ED5-8FBA-17B9-E4B764CB3951}"/>
              </a:ext>
            </a:extLst>
          </p:cNvPr>
          <p:cNvSpPr/>
          <p:nvPr/>
        </p:nvSpPr>
        <p:spPr>
          <a:xfrm>
            <a:off x="4114800" y="2342007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A6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FHIR  ·  HL7  ·  REST  ·  WEBHOOKS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Shape 71">
            <a:extLst>
              <a:ext uri="{FF2B5EF4-FFF2-40B4-BE49-F238E27FC236}">
                <a16:creationId xmlns:a16="http://schemas.microsoft.com/office/drawing/2014/main" id="{AA75E2E2-6DC3-CB07-2C3F-6211189DEF40}"/>
              </a:ext>
            </a:extLst>
          </p:cNvPr>
          <p:cNvSpPr/>
          <p:nvPr/>
        </p:nvSpPr>
        <p:spPr>
          <a:xfrm>
            <a:off x="182880" y="3441954"/>
            <a:ext cx="11795760" cy="731520"/>
          </a:xfrm>
          <a:prstGeom prst="rect">
            <a:avLst/>
          </a:prstGeom>
          <a:solidFill>
            <a:srgbClr val="0A1628"/>
          </a:solidFill>
          <a:ln w="10160">
            <a:solidFill>
              <a:srgbClr val="1DC98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Shape 72">
            <a:extLst>
              <a:ext uri="{FF2B5EF4-FFF2-40B4-BE49-F238E27FC236}">
                <a16:creationId xmlns:a16="http://schemas.microsoft.com/office/drawing/2014/main" id="{59382DE7-B01B-F807-2A99-5BFCA6B05A52}"/>
              </a:ext>
            </a:extLst>
          </p:cNvPr>
          <p:cNvSpPr/>
          <p:nvPr/>
        </p:nvSpPr>
        <p:spPr>
          <a:xfrm>
            <a:off x="182880" y="3441954"/>
            <a:ext cx="64008" cy="731520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 73">
            <a:extLst>
              <a:ext uri="{FF2B5EF4-FFF2-40B4-BE49-F238E27FC236}">
                <a16:creationId xmlns:a16="http://schemas.microsoft.com/office/drawing/2014/main" id="{909D9A47-06F5-EA91-72A3-7A71289D00E6}"/>
              </a:ext>
            </a:extLst>
          </p:cNvPr>
          <p:cNvSpPr/>
          <p:nvPr/>
        </p:nvSpPr>
        <p:spPr>
          <a:xfrm>
            <a:off x="347472" y="3496818"/>
            <a:ext cx="41696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BC5429A1-2951-B141-4D38-0AF7C716BC1A}"/>
              </a:ext>
            </a:extLst>
          </p:cNvPr>
          <p:cNvSpPr/>
          <p:nvPr/>
        </p:nvSpPr>
        <p:spPr>
          <a:xfrm>
            <a:off x="10789920" y="3478530"/>
            <a:ext cx="1143000" cy="201168"/>
          </a:xfrm>
          <a:prstGeom prst="rect">
            <a:avLst/>
          </a:prstGeom>
          <a:solidFill>
            <a:srgbClr val="1DC98A">
              <a:alpha val="18000"/>
            </a:srgbClr>
          </a:solidFill>
          <a:ln w="762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B8DC4E04-4E31-096D-24AC-B890C85FD35E}"/>
              </a:ext>
            </a:extLst>
          </p:cNvPr>
          <p:cNvSpPr/>
          <p:nvPr/>
        </p:nvSpPr>
        <p:spPr>
          <a:xfrm>
            <a:off x="10789920" y="347853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E2C975D2-F2CC-5A41-77E1-829A4B230230}"/>
              </a:ext>
            </a:extLst>
          </p:cNvPr>
          <p:cNvSpPr/>
          <p:nvPr/>
        </p:nvSpPr>
        <p:spPr>
          <a:xfrm>
            <a:off x="534924" y="3661410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068EB018-4A21-353F-675A-DA37A77231A1}"/>
              </a:ext>
            </a:extLst>
          </p:cNvPr>
          <p:cNvSpPr/>
          <p:nvPr/>
        </p:nvSpPr>
        <p:spPr>
          <a:xfrm>
            <a:off x="534924" y="371627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Router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Text 78">
            <a:extLst>
              <a:ext uri="{FF2B5EF4-FFF2-40B4-BE49-F238E27FC236}">
                <a16:creationId xmlns:a16="http://schemas.microsoft.com/office/drawing/2014/main" id="{65E25119-66BA-F43E-E849-CB9D02471908}"/>
              </a:ext>
            </a:extLst>
          </p:cNvPr>
          <p:cNvSpPr/>
          <p:nvPr/>
        </p:nvSpPr>
        <p:spPr>
          <a:xfrm>
            <a:off x="534924" y="388086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8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 planner, SLA manager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Shape 79">
            <a:extLst>
              <a:ext uri="{FF2B5EF4-FFF2-40B4-BE49-F238E27FC236}">
                <a16:creationId xmlns:a16="http://schemas.microsoft.com/office/drawing/2014/main" id="{9E23B9B5-9342-9DCB-CF2A-4B0BDA41CE2D}"/>
              </a:ext>
            </a:extLst>
          </p:cNvPr>
          <p:cNvSpPr/>
          <p:nvPr/>
        </p:nvSpPr>
        <p:spPr>
          <a:xfrm>
            <a:off x="3332988" y="3661410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7" name="Text 80">
            <a:extLst>
              <a:ext uri="{FF2B5EF4-FFF2-40B4-BE49-F238E27FC236}">
                <a16:creationId xmlns:a16="http://schemas.microsoft.com/office/drawing/2014/main" id="{831EB738-1100-6B29-0A06-EF63592B0564}"/>
              </a:ext>
            </a:extLst>
          </p:cNvPr>
          <p:cNvSpPr/>
          <p:nvPr/>
        </p:nvSpPr>
        <p:spPr>
          <a:xfrm>
            <a:off x="3332988" y="371627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Text 81">
            <a:extLst>
              <a:ext uri="{FF2B5EF4-FFF2-40B4-BE49-F238E27FC236}">
                <a16:creationId xmlns:a16="http://schemas.microsoft.com/office/drawing/2014/main" id="{A2413926-5679-54BC-9BB8-F783554C4C64}"/>
              </a:ext>
            </a:extLst>
          </p:cNvPr>
          <p:cNvSpPr/>
          <p:nvPr/>
        </p:nvSpPr>
        <p:spPr>
          <a:xfrm>
            <a:off x="3332988" y="388086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8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routing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" name="Shape 82">
            <a:extLst>
              <a:ext uri="{FF2B5EF4-FFF2-40B4-BE49-F238E27FC236}">
                <a16:creationId xmlns:a16="http://schemas.microsoft.com/office/drawing/2014/main" id="{35CC624A-6CC9-D6E4-A4C8-2CFC985E3A26}"/>
              </a:ext>
            </a:extLst>
          </p:cNvPr>
          <p:cNvSpPr/>
          <p:nvPr/>
        </p:nvSpPr>
        <p:spPr>
          <a:xfrm>
            <a:off x="6131052" y="3661410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Text 83">
            <a:extLst>
              <a:ext uri="{FF2B5EF4-FFF2-40B4-BE49-F238E27FC236}">
                <a16:creationId xmlns:a16="http://schemas.microsoft.com/office/drawing/2014/main" id="{71132846-7149-40F6-3888-1FC98E626223}"/>
              </a:ext>
            </a:extLst>
          </p:cNvPr>
          <p:cNvSpPr/>
          <p:nvPr/>
        </p:nvSpPr>
        <p:spPr>
          <a:xfrm>
            <a:off x="6131052" y="371627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Text 84">
            <a:extLst>
              <a:ext uri="{FF2B5EF4-FFF2-40B4-BE49-F238E27FC236}">
                <a16:creationId xmlns:a16="http://schemas.microsoft.com/office/drawing/2014/main" id="{9F1E350E-96A1-269E-BDC5-7F55E240BF17}"/>
              </a:ext>
            </a:extLst>
          </p:cNvPr>
          <p:cNvSpPr/>
          <p:nvPr/>
        </p:nvSpPr>
        <p:spPr>
          <a:xfrm>
            <a:off x="6131052" y="388086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8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HIPAA · OIG · CMS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Shape 85">
            <a:extLst>
              <a:ext uri="{FF2B5EF4-FFF2-40B4-BE49-F238E27FC236}">
                <a16:creationId xmlns:a16="http://schemas.microsoft.com/office/drawing/2014/main" id="{675F2D7A-BD60-ECF6-736D-C289054D27C3}"/>
              </a:ext>
            </a:extLst>
          </p:cNvPr>
          <p:cNvSpPr/>
          <p:nvPr/>
        </p:nvSpPr>
        <p:spPr>
          <a:xfrm>
            <a:off x="8929116" y="3661410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3" name="Text 86">
            <a:extLst>
              <a:ext uri="{FF2B5EF4-FFF2-40B4-BE49-F238E27FC236}">
                <a16:creationId xmlns:a16="http://schemas.microsoft.com/office/drawing/2014/main" id="{863F3815-C890-E34E-0744-80FF81AF88B5}"/>
              </a:ext>
            </a:extLst>
          </p:cNvPr>
          <p:cNvSpPr/>
          <p:nvPr/>
        </p:nvSpPr>
        <p:spPr>
          <a:xfrm>
            <a:off x="8929116" y="371627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Text 87">
            <a:extLst>
              <a:ext uri="{FF2B5EF4-FFF2-40B4-BE49-F238E27FC236}">
                <a16:creationId xmlns:a16="http://schemas.microsoft.com/office/drawing/2014/main" id="{9470895D-AF0F-AA21-CCA5-64183088A447}"/>
              </a:ext>
            </a:extLst>
          </p:cNvPr>
          <p:cNvSpPr/>
          <p:nvPr/>
        </p:nvSpPr>
        <p:spPr>
          <a:xfrm>
            <a:off x="8929116" y="388086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80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retraining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9049FA71-81AA-6F76-F99F-7902C2957DEC}"/>
              </a:ext>
            </a:extLst>
          </p:cNvPr>
          <p:cNvSpPr/>
          <p:nvPr/>
        </p:nvSpPr>
        <p:spPr>
          <a:xfrm>
            <a:off x="5852160" y="2348483"/>
            <a:ext cx="0" cy="247651"/>
          </a:xfrm>
          <a:prstGeom prst="line">
            <a:avLst/>
          </a:prstGeom>
          <a:noFill/>
          <a:ln w="1524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Text 89">
            <a:extLst>
              <a:ext uri="{FF2B5EF4-FFF2-40B4-BE49-F238E27FC236}">
                <a16:creationId xmlns:a16="http://schemas.microsoft.com/office/drawing/2014/main" id="{F75E3E1E-13F1-044B-B0F3-2F5B75941857}"/>
              </a:ext>
            </a:extLst>
          </p:cNvPr>
          <p:cNvSpPr/>
          <p:nvPr/>
        </p:nvSpPr>
        <p:spPr>
          <a:xfrm>
            <a:off x="3931539" y="4248911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A6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 TRIGGERS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hape 90">
            <a:extLst>
              <a:ext uri="{FF2B5EF4-FFF2-40B4-BE49-F238E27FC236}">
                <a16:creationId xmlns:a16="http://schemas.microsoft.com/office/drawing/2014/main" id="{2A4DBC27-F27D-FF0D-AF37-0A3DA357C30C}"/>
              </a:ext>
            </a:extLst>
          </p:cNvPr>
          <p:cNvSpPr/>
          <p:nvPr/>
        </p:nvSpPr>
        <p:spPr>
          <a:xfrm>
            <a:off x="182880" y="4367403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ED9353DD-F201-9345-DBDA-CD39EB9087EB}"/>
              </a:ext>
            </a:extLst>
          </p:cNvPr>
          <p:cNvSpPr/>
          <p:nvPr/>
        </p:nvSpPr>
        <p:spPr>
          <a:xfrm>
            <a:off x="182880" y="4367403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Text 92">
            <a:extLst>
              <a:ext uri="{FF2B5EF4-FFF2-40B4-BE49-F238E27FC236}">
                <a16:creationId xmlns:a16="http://schemas.microsoft.com/office/drawing/2014/main" id="{7DA519E3-1996-3FA6-14E8-ED211C011C5E}"/>
              </a:ext>
            </a:extLst>
          </p:cNvPr>
          <p:cNvSpPr/>
          <p:nvPr/>
        </p:nvSpPr>
        <p:spPr>
          <a:xfrm>
            <a:off x="347471" y="4422268"/>
            <a:ext cx="6634353" cy="13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 WITH HUMAN IN THE LOOP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Shape 93">
            <a:extLst>
              <a:ext uri="{FF2B5EF4-FFF2-40B4-BE49-F238E27FC236}">
                <a16:creationId xmlns:a16="http://schemas.microsoft.com/office/drawing/2014/main" id="{40C0DCD1-32B0-32CC-55B5-290B55479A26}"/>
              </a:ext>
            </a:extLst>
          </p:cNvPr>
          <p:cNvSpPr/>
          <p:nvPr/>
        </p:nvSpPr>
        <p:spPr>
          <a:xfrm>
            <a:off x="10789920" y="4403979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 94">
            <a:extLst>
              <a:ext uri="{FF2B5EF4-FFF2-40B4-BE49-F238E27FC236}">
                <a16:creationId xmlns:a16="http://schemas.microsoft.com/office/drawing/2014/main" id="{05725244-86B7-DD93-7A0B-7C772153DC24}"/>
              </a:ext>
            </a:extLst>
          </p:cNvPr>
          <p:cNvSpPr/>
          <p:nvPr/>
        </p:nvSpPr>
        <p:spPr>
          <a:xfrm>
            <a:off x="10789920" y="4403979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Shape 95">
            <a:extLst>
              <a:ext uri="{FF2B5EF4-FFF2-40B4-BE49-F238E27FC236}">
                <a16:creationId xmlns:a16="http://schemas.microsoft.com/office/drawing/2014/main" id="{C12F0A13-50E8-802F-9A64-4659C06678C9}"/>
              </a:ext>
            </a:extLst>
          </p:cNvPr>
          <p:cNvSpPr/>
          <p:nvPr/>
        </p:nvSpPr>
        <p:spPr>
          <a:xfrm>
            <a:off x="4572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" name="Text 96">
            <a:extLst>
              <a:ext uri="{FF2B5EF4-FFF2-40B4-BE49-F238E27FC236}">
                <a16:creationId xmlns:a16="http://schemas.microsoft.com/office/drawing/2014/main" id="{B4E0932F-810E-70EF-4B72-1FBD941CFF09}"/>
              </a:ext>
            </a:extLst>
          </p:cNvPr>
          <p:cNvSpPr/>
          <p:nvPr/>
        </p:nvSpPr>
        <p:spPr>
          <a:xfrm>
            <a:off x="4572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4" name="Text 97">
            <a:extLst>
              <a:ext uri="{FF2B5EF4-FFF2-40B4-BE49-F238E27FC236}">
                <a16:creationId xmlns:a16="http://schemas.microsoft.com/office/drawing/2014/main" id="{9B9EACF7-7B9A-0F81-8D1F-2AA5784329E9}"/>
              </a:ext>
            </a:extLst>
          </p:cNvPr>
          <p:cNvSpPr/>
          <p:nvPr/>
        </p:nvSpPr>
        <p:spPr>
          <a:xfrm>
            <a:off x="4937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413B4778-5237-E026-62EE-4AB52DD32181}"/>
              </a:ext>
            </a:extLst>
          </p:cNvPr>
          <p:cNvSpPr/>
          <p:nvPr/>
        </p:nvSpPr>
        <p:spPr>
          <a:xfrm>
            <a:off x="8138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Text 99">
            <a:extLst>
              <a:ext uri="{FF2B5EF4-FFF2-40B4-BE49-F238E27FC236}">
                <a16:creationId xmlns:a16="http://schemas.microsoft.com/office/drawing/2014/main" id="{D3AD8445-D1C2-AB70-92D1-341FB44822AF}"/>
              </a:ext>
            </a:extLst>
          </p:cNvPr>
          <p:cNvSpPr/>
          <p:nvPr/>
        </p:nvSpPr>
        <p:spPr>
          <a:xfrm>
            <a:off x="8138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Shape 100">
            <a:extLst>
              <a:ext uri="{FF2B5EF4-FFF2-40B4-BE49-F238E27FC236}">
                <a16:creationId xmlns:a16="http://schemas.microsoft.com/office/drawing/2014/main" id="{CF19D400-E951-97BE-5C5E-FEBD625EE967}"/>
              </a:ext>
            </a:extLst>
          </p:cNvPr>
          <p:cNvSpPr/>
          <p:nvPr/>
        </p:nvSpPr>
        <p:spPr>
          <a:xfrm>
            <a:off x="16504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D3BBC709-25F2-AA6B-9D75-5B92EC43F7C4}"/>
              </a:ext>
            </a:extLst>
          </p:cNvPr>
          <p:cNvSpPr/>
          <p:nvPr/>
        </p:nvSpPr>
        <p:spPr>
          <a:xfrm>
            <a:off x="17145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Text 102">
            <a:extLst>
              <a:ext uri="{FF2B5EF4-FFF2-40B4-BE49-F238E27FC236}">
                <a16:creationId xmlns:a16="http://schemas.microsoft.com/office/drawing/2014/main" id="{3723837B-D99A-C095-033D-60F992B6654E}"/>
              </a:ext>
            </a:extLst>
          </p:cNvPr>
          <p:cNvSpPr/>
          <p:nvPr/>
        </p:nvSpPr>
        <p:spPr>
          <a:xfrm>
            <a:off x="17145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Text 103">
            <a:extLst>
              <a:ext uri="{FF2B5EF4-FFF2-40B4-BE49-F238E27FC236}">
                <a16:creationId xmlns:a16="http://schemas.microsoft.com/office/drawing/2014/main" id="{42D002C6-120B-F01E-3139-9A9BD8810FEB}"/>
              </a:ext>
            </a:extLst>
          </p:cNvPr>
          <p:cNvSpPr/>
          <p:nvPr/>
        </p:nvSpPr>
        <p:spPr>
          <a:xfrm>
            <a:off x="17510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B366DCB5-245D-A150-B47B-6CD64208A9A7}"/>
              </a:ext>
            </a:extLst>
          </p:cNvPr>
          <p:cNvSpPr/>
          <p:nvPr/>
        </p:nvSpPr>
        <p:spPr>
          <a:xfrm>
            <a:off x="20711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" name="Text 105">
            <a:extLst>
              <a:ext uri="{FF2B5EF4-FFF2-40B4-BE49-F238E27FC236}">
                <a16:creationId xmlns:a16="http://schemas.microsoft.com/office/drawing/2014/main" id="{752A9B40-332E-B56D-D42B-1203C2C85CD0}"/>
              </a:ext>
            </a:extLst>
          </p:cNvPr>
          <p:cNvSpPr/>
          <p:nvPr/>
        </p:nvSpPr>
        <p:spPr>
          <a:xfrm>
            <a:off x="20711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Shape 106">
            <a:extLst>
              <a:ext uri="{FF2B5EF4-FFF2-40B4-BE49-F238E27FC236}">
                <a16:creationId xmlns:a16="http://schemas.microsoft.com/office/drawing/2014/main" id="{18D11750-A213-2970-F6B8-0A0326A17585}"/>
              </a:ext>
            </a:extLst>
          </p:cNvPr>
          <p:cNvSpPr/>
          <p:nvPr/>
        </p:nvSpPr>
        <p:spPr>
          <a:xfrm>
            <a:off x="29077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4" name="Shape 107">
            <a:extLst>
              <a:ext uri="{FF2B5EF4-FFF2-40B4-BE49-F238E27FC236}">
                <a16:creationId xmlns:a16="http://schemas.microsoft.com/office/drawing/2014/main" id="{50784CC0-9564-33DA-5158-416376D6603F}"/>
              </a:ext>
            </a:extLst>
          </p:cNvPr>
          <p:cNvSpPr/>
          <p:nvPr/>
        </p:nvSpPr>
        <p:spPr>
          <a:xfrm>
            <a:off x="29718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754C574D-07B9-2198-08E9-28728C922CFC}"/>
              </a:ext>
            </a:extLst>
          </p:cNvPr>
          <p:cNvSpPr/>
          <p:nvPr/>
        </p:nvSpPr>
        <p:spPr>
          <a:xfrm>
            <a:off x="29718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406C8978-4038-B3A3-5A05-4B7E2B29A2EB}"/>
              </a:ext>
            </a:extLst>
          </p:cNvPr>
          <p:cNvSpPr/>
          <p:nvPr/>
        </p:nvSpPr>
        <p:spPr>
          <a:xfrm>
            <a:off x="30083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7" name="Shape 110">
            <a:extLst>
              <a:ext uri="{FF2B5EF4-FFF2-40B4-BE49-F238E27FC236}">
                <a16:creationId xmlns:a16="http://schemas.microsoft.com/office/drawing/2014/main" id="{56A7419A-C8FA-9D8B-A827-C0D373680C68}"/>
              </a:ext>
            </a:extLst>
          </p:cNvPr>
          <p:cNvSpPr/>
          <p:nvPr/>
        </p:nvSpPr>
        <p:spPr>
          <a:xfrm>
            <a:off x="33284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F137B70F-A8C4-F06A-9574-D18B1BC95FD5}"/>
              </a:ext>
            </a:extLst>
          </p:cNvPr>
          <p:cNvSpPr/>
          <p:nvPr/>
        </p:nvSpPr>
        <p:spPr>
          <a:xfrm>
            <a:off x="33284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9" name="Shape 112">
            <a:extLst>
              <a:ext uri="{FF2B5EF4-FFF2-40B4-BE49-F238E27FC236}">
                <a16:creationId xmlns:a16="http://schemas.microsoft.com/office/drawing/2014/main" id="{8ED7E564-43F6-168E-854B-DB4C5AAE64CD}"/>
              </a:ext>
            </a:extLst>
          </p:cNvPr>
          <p:cNvSpPr/>
          <p:nvPr/>
        </p:nvSpPr>
        <p:spPr>
          <a:xfrm>
            <a:off x="41650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Shape 113">
            <a:extLst>
              <a:ext uri="{FF2B5EF4-FFF2-40B4-BE49-F238E27FC236}">
                <a16:creationId xmlns:a16="http://schemas.microsoft.com/office/drawing/2014/main" id="{9EE1F667-9353-F7FC-84E2-0DE39939B299}"/>
              </a:ext>
            </a:extLst>
          </p:cNvPr>
          <p:cNvSpPr/>
          <p:nvPr/>
        </p:nvSpPr>
        <p:spPr>
          <a:xfrm>
            <a:off x="42291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Text 114">
            <a:extLst>
              <a:ext uri="{FF2B5EF4-FFF2-40B4-BE49-F238E27FC236}">
                <a16:creationId xmlns:a16="http://schemas.microsoft.com/office/drawing/2014/main" id="{FBCE56D5-815F-623D-78D9-361401EC6FBA}"/>
              </a:ext>
            </a:extLst>
          </p:cNvPr>
          <p:cNvSpPr/>
          <p:nvPr/>
        </p:nvSpPr>
        <p:spPr>
          <a:xfrm>
            <a:off x="42291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BD1CB3E0-ED2B-5D20-AE3F-44133E6C0634}"/>
              </a:ext>
            </a:extLst>
          </p:cNvPr>
          <p:cNvSpPr/>
          <p:nvPr/>
        </p:nvSpPr>
        <p:spPr>
          <a:xfrm>
            <a:off x="42656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" name="Shape 116">
            <a:extLst>
              <a:ext uri="{FF2B5EF4-FFF2-40B4-BE49-F238E27FC236}">
                <a16:creationId xmlns:a16="http://schemas.microsoft.com/office/drawing/2014/main" id="{94282910-6BC8-D849-DFD9-B5960854DDF7}"/>
              </a:ext>
            </a:extLst>
          </p:cNvPr>
          <p:cNvSpPr/>
          <p:nvPr/>
        </p:nvSpPr>
        <p:spPr>
          <a:xfrm>
            <a:off x="4585716" y="5108067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82F12C3C-81D3-857D-9054-0A87DC726360}"/>
              </a:ext>
            </a:extLst>
          </p:cNvPr>
          <p:cNvSpPr/>
          <p:nvPr/>
        </p:nvSpPr>
        <p:spPr>
          <a:xfrm>
            <a:off x="45857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5" name="Shape 118">
            <a:extLst>
              <a:ext uri="{FF2B5EF4-FFF2-40B4-BE49-F238E27FC236}">
                <a16:creationId xmlns:a16="http://schemas.microsoft.com/office/drawing/2014/main" id="{703B234D-1F61-5F19-5424-C1281588709F}"/>
              </a:ext>
            </a:extLst>
          </p:cNvPr>
          <p:cNvSpPr/>
          <p:nvPr/>
        </p:nvSpPr>
        <p:spPr>
          <a:xfrm>
            <a:off x="54223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6" name="Shape 119">
            <a:extLst>
              <a:ext uri="{FF2B5EF4-FFF2-40B4-BE49-F238E27FC236}">
                <a16:creationId xmlns:a16="http://schemas.microsoft.com/office/drawing/2014/main" id="{3690A0B9-FDE4-7E5E-5686-FF4C4A526DD2}"/>
              </a:ext>
            </a:extLst>
          </p:cNvPr>
          <p:cNvSpPr/>
          <p:nvPr/>
        </p:nvSpPr>
        <p:spPr>
          <a:xfrm>
            <a:off x="54864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73E873CC-66AB-2787-16AF-BA56DE0D2DF4}"/>
              </a:ext>
            </a:extLst>
          </p:cNvPr>
          <p:cNvSpPr/>
          <p:nvPr/>
        </p:nvSpPr>
        <p:spPr>
          <a:xfrm>
            <a:off x="54864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68B8A39F-8819-A770-CB89-0FF62B26A3B5}"/>
              </a:ext>
            </a:extLst>
          </p:cNvPr>
          <p:cNvSpPr/>
          <p:nvPr/>
        </p:nvSpPr>
        <p:spPr>
          <a:xfrm>
            <a:off x="55229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9" name="Shape 122">
            <a:extLst>
              <a:ext uri="{FF2B5EF4-FFF2-40B4-BE49-F238E27FC236}">
                <a16:creationId xmlns:a16="http://schemas.microsoft.com/office/drawing/2014/main" id="{625E86FB-C889-6811-8E15-2437569F9F4D}"/>
              </a:ext>
            </a:extLst>
          </p:cNvPr>
          <p:cNvSpPr/>
          <p:nvPr/>
        </p:nvSpPr>
        <p:spPr>
          <a:xfrm>
            <a:off x="58430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BD8CEDDC-6E7F-CCF9-C211-E586B6B72F9B}"/>
              </a:ext>
            </a:extLst>
          </p:cNvPr>
          <p:cNvSpPr/>
          <p:nvPr/>
        </p:nvSpPr>
        <p:spPr>
          <a:xfrm>
            <a:off x="58430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1" name="Shape 124">
            <a:extLst>
              <a:ext uri="{FF2B5EF4-FFF2-40B4-BE49-F238E27FC236}">
                <a16:creationId xmlns:a16="http://schemas.microsoft.com/office/drawing/2014/main" id="{024FBE70-1770-AAA4-DE3E-10CCFB810D57}"/>
              </a:ext>
            </a:extLst>
          </p:cNvPr>
          <p:cNvSpPr/>
          <p:nvPr/>
        </p:nvSpPr>
        <p:spPr>
          <a:xfrm>
            <a:off x="66796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2" name="Shape 125">
            <a:extLst>
              <a:ext uri="{FF2B5EF4-FFF2-40B4-BE49-F238E27FC236}">
                <a16:creationId xmlns:a16="http://schemas.microsoft.com/office/drawing/2014/main" id="{2DB7A3B8-2375-F80C-FFD9-52E0DA1034A8}"/>
              </a:ext>
            </a:extLst>
          </p:cNvPr>
          <p:cNvSpPr/>
          <p:nvPr/>
        </p:nvSpPr>
        <p:spPr>
          <a:xfrm>
            <a:off x="67437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CFD9A27B-4645-38C6-C05F-3C2E90809B63}"/>
              </a:ext>
            </a:extLst>
          </p:cNvPr>
          <p:cNvSpPr/>
          <p:nvPr/>
        </p:nvSpPr>
        <p:spPr>
          <a:xfrm>
            <a:off x="67437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72111E59-49E7-2B1C-1835-9C7DC9F51AAB}"/>
              </a:ext>
            </a:extLst>
          </p:cNvPr>
          <p:cNvSpPr/>
          <p:nvPr/>
        </p:nvSpPr>
        <p:spPr>
          <a:xfrm>
            <a:off x="67802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5" name="Shape 128">
            <a:extLst>
              <a:ext uri="{FF2B5EF4-FFF2-40B4-BE49-F238E27FC236}">
                <a16:creationId xmlns:a16="http://schemas.microsoft.com/office/drawing/2014/main" id="{59DC20BD-EB7E-E987-588B-951494400E54}"/>
              </a:ext>
            </a:extLst>
          </p:cNvPr>
          <p:cNvSpPr/>
          <p:nvPr/>
        </p:nvSpPr>
        <p:spPr>
          <a:xfrm>
            <a:off x="7100316" y="5108067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6" name="Text 129">
            <a:extLst>
              <a:ext uri="{FF2B5EF4-FFF2-40B4-BE49-F238E27FC236}">
                <a16:creationId xmlns:a16="http://schemas.microsoft.com/office/drawing/2014/main" id="{75310AD8-75B4-D9ED-A724-2A2FDA546647}"/>
              </a:ext>
            </a:extLst>
          </p:cNvPr>
          <p:cNvSpPr/>
          <p:nvPr/>
        </p:nvSpPr>
        <p:spPr>
          <a:xfrm>
            <a:off x="71003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7" name="Shape 130">
            <a:extLst>
              <a:ext uri="{FF2B5EF4-FFF2-40B4-BE49-F238E27FC236}">
                <a16:creationId xmlns:a16="http://schemas.microsoft.com/office/drawing/2014/main" id="{1584F331-8BB8-BDA9-B6BA-50720C7D28FF}"/>
              </a:ext>
            </a:extLst>
          </p:cNvPr>
          <p:cNvSpPr/>
          <p:nvPr/>
        </p:nvSpPr>
        <p:spPr>
          <a:xfrm>
            <a:off x="79369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8" name="Shape 131">
            <a:extLst>
              <a:ext uri="{FF2B5EF4-FFF2-40B4-BE49-F238E27FC236}">
                <a16:creationId xmlns:a16="http://schemas.microsoft.com/office/drawing/2014/main" id="{21AFBB66-0802-57FF-2868-4611E52B083E}"/>
              </a:ext>
            </a:extLst>
          </p:cNvPr>
          <p:cNvSpPr/>
          <p:nvPr/>
        </p:nvSpPr>
        <p:spPr>
          <a:xfrm>
            <a:off x="80010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9" name="Text 132">
            <a:extLst>
              <a:ext uri="{FF2B5EF4-FFF2-40B4-BE49-F238E27FC236}">
                <a16:creationId xmlns:a16="http://schemas.microsoft.com/office/drawing/2014/main" id="{F999EE7A-1A61-5C32-647D-0AEC020AE90B}"/>
              </a:ext>
            </a:extLst>
          </p:cNvPr>
          <p:cNvSpPr/>
          <p:nvPr/>
        </p:nvSpPr>
        <p:spPr>
          <a:xfrm>
            <a:off x="80010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65E6A2D3-1519-FA44-9C65-6D850ACEACE5}"/>
              </a:ext>
            </a:extLst>
          </p:cNvPr>
          <p:cNvSpPr/>
          <p:nvPr/>
        </p:nvSpPr>
        <p:spPr>
          <a:xfrm>
            <a:off x="80375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1" name="Shape 134">
            <a:extLst>
              <a:ext uri="{FF2B5EF4-FFF2-40B4-BE49-F238E27FC236}">
                <a16:creationId xmlns:a16="http://schemas.microsoft.com/office/drawing/2014/main" id="{126CBB66-D2AB-5F84-378B-35F673FB3A02}"/>
              </a:ext>
            </a:extLst>
          </p:cNvPr>
          <p:cNvSpPr/>
          <p:nvPr/>
        </p:nvSpPr>
        <p:spPr>
          <a:xfrm>
            <a:off x="83576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2" name="Text 135">
            <a:extLst>
              <a:ext uri="{FF2B5EF4-FFF2-40B4-BE49-F238E27FC236}">
                <a16:creationId xmlns:a16="http://schemas.microsoft.com/office/drawing/2014/main" id="{D2BA12D5-0027-FDB3-29AB-7326981F5CE9}"/>
              </a:ext>
            </a:extLst>
          </p:cNvPr>
          <p:cNvSpPr/>
          <p:nvPr/>
        </p:nvSpPr>
        <p:spPr>
          <a:xfrm>
            <a:off x="83576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3" name="Shape 136">
            <a:extLst>
              <a:ext uri="{FF2B5EF4-FFF2-40B4-BE49-F238E27FC236}">
                <a16:creationId xmlns:a16="http://schemas.microsoft.com/office/drawing/2014/main" id="{885CF823-2EB2-9FD8-F2C7-8B5FF0AC8E9C}"/>
              </a:ext>
            </a:extLst>
          </p:cNvPr>
          <p:cNvSpPr/>
          <p:nvPr/>
        </p:nvSpPr>
        <p:spPr>
          <a:xfrm>
            <a:off x="91942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Shape 137">
            <a:extLst>
              <a:ext uri="{FF2B5EF4-FFF2-40B4-BE49-F238E27FC236}">
                <a16:creationId xmlns:a16="http://schemas.microsoft.com/office/drawing/2014/main" id="{07ECC26D-32DC-6167-5254-3B2CDD0806B4}"/>
              </a:ext>
            </a:extLst>
          </p:cNvPr>
          <p:cNvSpPr/>
          <p:nvPr/>
        </p:nvSpPr>
        <p:spPr>
          <a:xfrm>
            <a:off x="92583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5" name="Text 138">
            <a:extLst>
              <a:ext uri="{FF2B5EF4-FFF2-40B4-BE49-F238E27FC236}">
                <a16:creationId xmlns:a16="http://schemas.microsoft.com/office/drawing/2014/main" id="{498887B5-10EA-9F7B-7C6E-F7BE2D00D6ED}"/>
              </a:ext>
            </a:extLst>
          </p:cNvPr>
          <p:cNvSpPr/>
          <p:nvPr/>
        </p:nvSpPr>
        <p:spPr>
          <a:xfrm>
            <a:off x="92583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Text 139">
            <a:extLst>
              <a:ext uri="{FF2B5EF4-FFF2-40B4-BE49-F238E27FC236}">
                <a16:creationId xmlns:a16="http://schemas.microsoft.com/office/drawing/2014/main" id="{FF73A5F0-676A-8847-AACD-10A84103B035}"/>
              </a:ext>
            </a:extLst>
          </p:cNvPr>
          <p:cNvSpPr/>
          <p:nvPr/>
        </p:nvSpPr>
        <p:spPr>
          <a:xfrm>
            <a:off x="92948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Shape 140">
            <a:extLst>
              <a:ext uri="{FF2B5EF4-FFF2-40B4-BE49-F238E27FC236}">
                <a16:creationId xmlns:a16="http://schemas.microsoft.com/office/drawing/2014/main" id="{2D9CD871-8433-7B0D-5DDB-1D3B23BFB2A3}"/>
              </a:ext>
            </a:extLst>
          </p:cNvPr>
          <p:cNvSpPr/>
          <p:nvPr/>
        </p:nvSpPr>
        <p:spPr>
          <a:xfrm>
            <a:off x="9614916" y="5108067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Text 141">
            <a:extLst>
              <a:ext uri="{FF2B5EF4-FFF2-40B4-BE49-F238E27FC236}">
                <a16:creationId xmlns:a16="http://schemas.microsoft.com/office/drawing/2014/main" id="{0CC75F96-69CE-19A9-EEBB-5B21BA81650E}"/>
              </a:ext>
            </a:extLst>
          </p:cNvPr>
          <p:cNvSpPr/>
          <p:nvPr/>
        </p:nvSpPr>
        <p:spPr>
          <a:xfrm>
            <a:off x="96149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Shape 142">
            <a:extLst>
              <a:ext uri="{FF2B5EF4-FFF2-40B4-BE49-F238E27FC236}">
                <a16:creationId xmlns:a16="http://schemas.microsoft.com/office/drawing/2014/main" id="{5FA61BA6-E468-B95F-F74B-A9424D93B4C8}"/>
              </a:ext>
            </a:extLst>
          </p:cNvPr>
          <p:cNvSpPr/>
          <p:nvPr/>
        </p:nvSpPr>
        <p:spPr>
          <a:xfrm>
            <a:off x="10451592" y="4934331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Shape 143">
            <a:extLst>
              <a:ext uri="{FF2B5EF4-FFF2-40B4-BE49-F238E27FC236}">
                <a16:creationId xmlns:a16="http://schemas.microsoft.com/office/drawing/2014/main" id="{BBE9271F-E2CC-4C13-863B-06B8472A4AA0}"/>
              </a:ext>
            </a:extLst>
          </p:cNvPr>
          <p:cNvSpPr/>
          <p:nvPr/>
        </p:nvSpPr>
        <p:spPr>
          <a:xfrm>
            <a:off x="10515600" y="4586859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Text 144">
            <a:extLst>
              <a:ext uri="{FF2B5EF4-FFF2-40B4-BE49-F238E27FC236}">
                <a16:creationId xmlns:a16="http://schemas.microsoft.com/office/drawing/2014/main" id="{3BB4CA0C-79C6-BDFC-607D-DE37166AD4A6}"/>
              </a:ext>
            </a:extLst>
          </p:cNvPr>
          <p:cNvSpPr/>
          <p:nvPr/>
        </p:nvSpPr>
        <p:spPr>
          <a:xfrm>
            <a:off x="10515600" y="46230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7F7F7F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Text 145">
            <a:extLst>
              <a:ext uri="{FF2B5EF4-FFF2-40B4-BE49-F238E27FC236}">
                <a16:creationId xmlns:a16="http://schemas.microsoft.com/office/drawing/2014/main" id="{8D6FD737-CB57-F4A8-97FF-FA93321B3688}"/>
              </a:ext>
            </a:extLst>
          </p:cNvPr>
          <p:cNvSpPr/>
          <p:nvPr/>
        </p:nvSpPr>
        <p:spPr>
          <a:xfrm>
            <a:off x="10552176" y="476059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Shape 146">
            <a:extLst>
              <a:ext uri="{FF2B5EF4-FFF2-40B4-BE49-F238E27FC236}">
                <a16:creationId xmlns:a16="http://schemas.microsoft.com/office/drawing/2014/main" id="{830F0BB0-AA58-DA0D-16CE-A3F130F5015D}"/>
              </a:ext>
            </a:extLst>
          </p:cNvPr>
          <p:cNvSpPr/>
          <p:nvPr/>
        </p:nvSpPr>
        <p:spPr>
          <a:xfrm>
            <a:off x="10872216" y="5108067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Text 147">
            <a:extLst>
              <a:ext uri="{FF2B5EF4-FFF2-40B4-BE49-F238E27FC236}">
                <a16:creationId xmlns:a16="http://schemas.microsoft.com/office/drawing/2014/main" id="{0BF3A2BF-D079-22FE-4B07-9165AD24DCCE}"/>
              </a:ext>
            </a:extLst>
          </p:cNvPr>
          <p:cNvSpPr/>
          <p:nvPr/>
        </p:nvSpPr>
        <p:spPr>
          <a:xfrm>
            <a:off x="10872216" y="5108067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5" name="Shape 148">
            <a:extLst>
              <a:ext uri="{FF2B5EF4-FFF2-40B4-BE49-F238E27FC236}">
                <a16:creationId xmlns:a16="http://schemas.microsoft.com/office/drawing/2014/main" id="{33181FFE-5FB7-D84F-D86F-4DDF85EA89F7}"/>
              </a:ext>
            </a:extLst>
          </p:cNvPr>
          <p:cNvSpPr/>
          <p:nvPr/>
        </p:nvSpPr>
        <p:spPr>
          <a:xfrm>
            <a:off x="5852160" y="5544693"/>
            <a:ext cx="0" cy="118872"/>
          </a:xfrm>
          <a:prstGeom prst="line">
            <a:avLst/>
          </a:prstGeom>
          <a:noFill/>
          <a:ln w="1524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Text 149">
            <a:extLst>
              <a:ext uri="{FF2B5EF4-FFF2-40B4-BE49-F238E27FC236}">
                <a16:creationId xmlns:a16="http://schemas.microsoft.com/office/drawing/2014/main" id="{EA31BC44-0AE5-6BF5-421D-0CC6C06C08A0}"/>
              </a:ext>
            </a:extLst>
          </p:cNvPr>
          <p:cNvSpPr/>
          <p:nvPr/>
        </p:nvSpPr>
        <p:spPr>
          <a:xfrm>
            <a:off x="4181475" y="5485639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A6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API  ·  HL7 FHIR R4  ·  SMART on FHIR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Shape 150">
            <a:extLst>
              <a:ext uri="{FF2B5EF4-FFF2-40B4-BE49-F238E27FC236}">
                <a16:creationId xmlns:a16="http://schemas.microsoft.com/office/drawing/2014/main" id="{479C8DEB-141E-B56E-6EFA-4891041D48D5}"/>
              </a:ext>
            </a:extLst>
          </p:cNvPr>
          <p:cNvSpPr/>
          <p:nvPr/>
        </p:nvSpPr>
        <p:spPr>
          <a:xfrm>
            <a:off x="182880" y="5672709"/>
            <a:ext cx="11795760" cy="548640"/>
          </a:xfrm>
          <a:prstGeom prst="rect">
            <a:avLst/>
          </a:prstGeom>
          <a:solidFill>
            <a:srgbClr val="0A1628"/>
          </a:solidFill>
          <a:ln w="10160">
            <a:solidFill>
              <a:srgbClr val="607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Shape 151">
            <a:extLst>
              <a:ext uri="{FF2B5EF4-FFF2-40B4-BE49-F238E27FC236}">
                <a16:creationId xmlns:a16="http://schemas.microsoft.com/office/drawing/2014/main" id="{038137DB-2841-119C-C9A9-05D5DAB8E4AB}"/>
              </a:ext>
            </a:extLst>
          </p:cNvPr>
          <p:cNvSpPr/>
          <p:nvPr/>
        </p:nvSpPr>
        <p:spPr>
          <a:xfrm>
            <a:off x="182880" y="5672709"/>
            <a:ext cx="64008" cy="54864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9" name="Text 152">
            <a:extLst>
              <a:ext uri="{FF2B5EF4-FFF2-40B4-BE49-F238E27FC236}">
                <a16:creationId xmlns:a16="http://schemas.microsoft.com/office/drawing/2014/main" id="{8E017AC0-EB3A-07D6-DA30-D3A117ACC7D1}"/>
              </a:ext>
            </a:extLst>
          </p:cNvPr>
          <p:cNvSpPr/>
          <p:nvPr/>
        </p:nvSpPr>
        <p:spPr>
          <a:xfrm>
            <a:off x="347472" y="5727573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EHR / EMR SYSTEMS OF RECORD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Shape 153">
            <a:extLst>
              <a:ext uri="{FF2B5EF4-FFF2-40B4-BE49-F238E27FC236}">
                <a16:creationId xmlns:a16="http://schemas.microsoft.com/office/drawing/2014/main" id="{EE49ED50-F379-9C0C-E829-8C6977AE0037}"/>
              </a:ext>
            </a:extLst>
          </p:cNvPr>
          <p:cNvSpPr/>
          <p:nvPr/>
        </p:nvSpPr>
        <p:spPr>
          <a:xfrm>
            <a:off x="10789920" y="5709285"/>
            <a:ext cx="1143000" cy="201168"/>
          </a:xfrm>
          <a:prstGeom prst="rect">
            <a:avLst/>
          </a:prstGeom>
          <a:solidFill>
            <a:srgbClr val="607080">
              <a:alpha val="18000"/>
            </a:srgbClr>
          </a:solidFill>
          <a:ln w="762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1" name="Text 154">
            <a:extLst>
              <a:ext uri="{FF2B5EF4-FFF2-40B4-BE49-F238E27FC236}">
                <a16:creationId xmlns:a16="http://schemas.microsoft.com/office/drawing/2014/main" id="{436FA9B6-6C6B-30DB-60EC-9405D5326D2E}"/>
              </a:ext>
            </a:extLst>
          </p:cNvPr>
          <p:cNvSpPr/>
          <p:nvPr/>
        </p:nvSpPr>
        <p:spPr>
          <a:xfrm>
            <a:off x="10789920" y="5709285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2" name="Shape 155">
            <a:extLst>
              <a:ext uri="{FF2B5EF4-FFF2-40B4-BE49-F238E27FC236}">
                <a16:creationId xmlns:a16="http://schemas.microsoft.com/office/drawing/2014/main" id="{FDEFA7D2-BE87-72E5-9590-6F22DF909DC4}"/>
              </a:ext>
            </a:extLst>
          </p:cNvPr>
          <p:cNvSpPr/>
          <p:nvPr/>
        </p:nvSpPr>
        <p:spPr>
          <a:xfrm>
            <a:off x="608457" y="5920740"/>
            <a:ext cx="1298448" cy="237744"/>
          </a:xfrm>
          <a:prstGeom prst="rect">
            <a:avLst/>
          </a:prstGeom>
          <a:solidFill>
            <a:srgbClr val="0D1B2A"/>
          </a:solidFill>
          <a:ln w="762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3" name="Shape 156">
            <a:extLst>
              <a:ext uri="{FF2B5EF4-FFF2-40B4-BE49-F238E27FC236}">
                <a16:creationId xmlns:a16="http://schemas.microsoft.com/office/drawing/2014/main" id="{21ED4468-B90C-89CE-D144-6BAC69863C5C}"/>
              </a:ext>
            </a:extLst>
          </p:cNvPr>
          <p:cNvSpPr/>
          <p:nvPr/>
        </p:nvSpPr>
        <p:spPr>
          <a:xfrm>
            <a:off x="708660" y="6007989"/>
            <a:ext cx="73152" cy="73152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4" name="Text 157">
            <a:extLst>
              <a:ext uri="{FF2B5EF4-FFF2-40B4-BE49-F238E27FC236}">
                <a16:creationId xmlns:a16="http://schemas.microsoft.com/office/drawing/2014/main" id="{8BC43CF0-CC57-14B7-B00D-E7B059AA2C0B}"/>
              </a:ext>
            </a:extLst>
          </p:cNvPr>
          <p:cNvSpPr/>
          <p:nvPr/>
        </p:nvSpPr>
        <p:spPr>
          <a:xfrm>
            <a:off x="872871" y="5947029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Shape 158">
            <a:extLst>
              <a:ext uri="{FF2B5EF4-FFF2-40B4-BE49-F238E27FC236}">
                <a16:creationId xmlns:a16="http://schemas.microsoft.com/office/drawing/2014/main" id="{59C024E5-0C78-9287-F399-E3DB3C71005B}"/>
              </a:ext>
            </a:extLst>
          </p:cNvPr>
          <p:cNvSpPr/>
          <p:nvPr/>
        </p:nvSpPr>
        <p:spPr>
          <a:xfrm>
            <a:off x="2455926" y="5911215"/>
            <a:ext cx="1709166" cy="237744"/>
          </a:xfrm>
          <a:prstGeom prst="rect">
            <a:avLst/>
          </a:prstGeom>
          <a:solidFill>
            <a:srgbClr val="0D1B2A"/>
          </a:solidFill>
          <a:ln w="762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Shape 159">
            <a:extLst>
              <a:ext uri="{FF2B5EF4-FFF2-40B4-BE49-F238E27FC236}">
                <a16:creationId xmlns:a16="http://schemas.microsoft.com/office/drawing/2014/main" id="{45DD13A4-0F45-E199-90A8-22CEBBC26B1E}"/>
              </a:ext>
            </a:extLst>
          </p:cNvPr>
          <p:cNvSpPr/>
          <p:nvPr/>
        </p:nvSpPr>
        <p:spPr>
          <a:xfrm>
            <a:off x="2565654" y="5969889"/>
            <a:ext cx="73152" cy="73152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Text 160">
            <a:extLst>
              <a:ext uri="{FF2B5EF4-FFF2-40B4-BE49-F238E27FC236}">
                <a16:creationId xmlns:a16="http://schemas.microsoft.com/office/drawing/2014/main" id="{1BD0E34E-6E6E-A40E-B190-9EF39AAA4CA4}"/>
              </a:ext>
            </a:extLst>
          </p:cNvPr>
          <p:cNvSpPr/>
          <p:nvPr/>
        </p:nvSpPr>
        <p:spPr>
          <a:xfrm>
            <a:off x="2695575" y="5920364"/>
            <a:ext cx="1440942" cy="19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Management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Shape 164">
            <a:extLst>
              <a:ext uri="{FF2B5EF4-FFF2-40B4-BE49-F238E27FC236}">
                <a16:creationId xmlns:a16="http://schemas.microsoft.com/office/drawing/2014/main" id="{2143E3D2-F3D5-01D9-B51A-B3734B63A377}"/>
              </a:ext>
            </a:extLst>
          </p:cNvPr>
          <p:cNvSpPr/>
          <p:nvPr/>
        </p:nvSpPr>
        <p:spPr>
          <a:xfrm>
            <a:off x="4994910" y="5892165"/>
            <a:ext cx="1533906" cy="237744"/>
          </a:xfrm>
          <a:prstGeom prst="rect">
            <a:avLst/>
          </a:prstGeom>
          <a:solidFill>
            <a:srgbClr val="0D1B2A"/>
          </a:solidFill>
          <a:ln w="762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Shape 165">
            <a:extLst>
              <a:ext uri="{FF2B5EF4-FFF2-40B4-BE49-F238E27FC236}">
                <a16:creationId xmlns:a16="http://schemas.microsoft.com/office/drawing/2014/main" id="{A4F87CAA-E6A3-251B-1955-786F0DEAF73F}"/>
              </a:ext>
            </a:extLst>
          </p:cNvPr>
          <p:cNvSpPr/>
          <p:nvPr/>
        </p:nvSpPr>
        <p:spPr>
          <a:xfrm>
            <a:off x="5165217" y="5979414"/>
            <a:ext cx="73152" cy="73152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Text 166">
            <a:extLst>
              <a:ext uri="{FF2B5EF4-FFF2-40B4-BE49-F238E27FC236}">
                <a16:creationId xmlns:a16="http://schemas.microsoft.com/office/drawing/2014/main" id="{8B3E9C98-D559-CDB1-148E-05E7744F4D48}"/>
              </a:ext>
            </a:extLst>
          </p:cNvPr>
          <p:cNvSpPr/>
          <p:nvPr/>
        </p:nvSpPr>
        <p:spPr>
          <a:xfrm>
            <a:off x="5314950" y="5922645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CDI/Coding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Shape 167">
            <a:extLst>
              <a:ext uri="{FF2B5EF4-FFF2-40B4-BE49-F238E27FC236}">
                <a16:creationId xmlns:a16="http://schemas.microsoft.com/office/drawing/2014/main" id="{083F3E39-5058-ADC4-07F1-153D072924B8}"/>
              </a:ext>
            </a:extLst>
          </p:cNvPr>
          <p:cNvSpPr/>
          <p:nvPr/>
        </p:nvSpPr>
        <p:spPr>
          <a:xfrm>
            <a:off x="7055358" y="5892165"/>
            <a:ext cx="1773936" cy="237744"/>
          </a:xfrm>
          <a:prstGeom prst="rect">
            <a:avLst/>
          </a:prstGeom>
          <a:solidFill>
            <a:srgbClr val="0D1B2A"/>
          </a:solidFill>
          <a:ln w="762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Shape 168">
            <a:extLst>
              <a:ext uri="{FF2B5EF4-FFF2-40B4-BE49-F238E27FC236}">
                <a16:creationId xmlns:a16="http://schemas.microsoft.com/office/drawing/2014/main" id="{F72D3F01-BD1B-6C52-9A7D-C01561665C8A}"/>
              </a:ext>
            </a:extLst>
          </p:cNvPr>
          <p:cNvSpPr/>
          <p:nvPr/>
        </p:nvSpPr>
        <p:spPr>
          <a:xfrm>
            <a:off x="7165086" y="5969889"/>
            <a:ext cx="73152" cy="73152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Text 169">
            <a:extLst>
              <a:ext uri="{FF2B5EF4-FFF2-40B4-BE49-F238E27FC236}">
                <a16:creationId xmlns:a16="http://schemas.microsoft.com/office/drawing/2014/main" id="{44FA4D05-FD12-1F61-A0DF-B6F0F40BAA7F}"/>
              </a:ext>
            </a:extLst>
          </p:cNvPr>
          <p:cNvSpPr/>
          <p:nvPr/>
        </p:nvSpPr>
        <p:spPr>
          <a:xfrm>
            <a:off x="7274814" y="5928741"/>
            <a:ext cx="1499616" cy="17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CRM/Contact Center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Shape 170">
            <a:extLst>
              <a:ext uri="{FF2B5EF4-FFF2-40B4-BE49-F238E27FC236}">
                <a16:creationId xmlns:a16="http://schemas.microsoft.com/office/drawing/2014/main" id="{5B5974DD-5562-DF8B-BF4B-188429A18A74}"/>
              </a:ext>
            </a:extLst>
          </p:cNvPr>
          <p:cNvSpPr/>
          <p:nvPr/>
        </p:nvSpPr>
        <p:spPr>
          <a:xfrm>
            <a:off x="9286494" y="5892165"/>
            <a:ext cx="2417826" cy="237744"/>
          </a:xfrm>
          <a:prstGeom prst="rect">
            <a:avLst/>
          </a:prstGeom>
          <a:solidFill>
            <a:srgbClr val="0D1B2A"/>
          </a:solidFill>
          <a:ln w="762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Shape 171">
            <a:extLst>
              <a:ext uri="{FF2B5EF4-FFF2-40B4-BE49-F238E27FC236}">
                <a16:creationId xmlns:a16="http://schemas.microsoft.com/office/drawing/2014/main" id="{006E08D4-E04D-B78E-6249-617F17C1B595}"/>
              </a:ext>
            </a:extLst>
          </p:cNvPr>
          <p:cNvSpPr/>
          <p:nvPr/>
        </p:nvSpPr>
        <p:spPr>
          <a:xfrm>
            <a:off x="9374505" y="5988939"/>
            <a:ext cx="73152" cy="73152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9" name="Text 172">
            <a:extLst>
              <a:ext uri="{FF2B5EF4-FFF2-40B4-BE49-F238E27FC236}">
                <a16:creationId xmlns:a16="http://schemas.microsoft.com/office/drawing/2014/main" id="{CEBB84EA-341E-A946-BA62-2C3C853C9EF1}"/>
              </a:ext>
            </a:extLst>
          </p:cNvPr>
          <p:cNvSpPr/>
          <p:nvPr/>
        </p:nvSpPr>
        <p:spPr>
          <a:xfrm>
            <a:off x="9522333" y="5928741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Payments/Lockbox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6" name="Shape 179">
            <a:extLst>
              <a:ext uri="{FF2B5EF4-FFF2-40B4-BE49-F238E27FC236}">
                <a16:creationId xmlns:a16="http://schemas.microsoft.com/office/drawing/2014/main" id="{EAB980F0-4931-9F34-F289-1D73DD4E5761}"/>
              </a:ext>
            </a:extLst>
          </p:cNvPr>
          <p:cNvSpPr/>
          <p:nvPr/>
        </p:nvSpPr>
        <p:spPr>
          <a:xfrm>
            <a:off x="256032" y="6321933"/>
            <a:ext cx="109728" cy="109728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7" name="Text 180">
            <a:extLst>
              <a:ext uri="{FF2B5EF4-FFF2-40B4-BE49-F238E27FC236}">
                <a16:creationId xmlns:a16="http://schemas.microsoft.com/office/drawing/2014/main" id="{F9622DA6-2F2D-8F63-5EC4-1F910B943C2B}"/>
              </a:ext>
            </a:extLst>
          </p:cNvPr>
          <p:cNvSpPr/>
          <p:nvPr/>
        </p:nvSpPr>
        <p:spPr>
          <a:xfrm>
            <a:off x="411480" y="6312789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 — Fully autonomous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8" name="Shape 181">
            <a:extLst>
              <a:ext uri="{FF2B5EF4-FFF2-40B4-BE49-F238E27FC236}">
                <a16:creationId xmlns:a16="http://schemas.microsoft.com/office/drawing/2014/main" id="{BFFD06AB-39A6-675E-9812-E53CAF46EA1D}"/>
              </a:ext>
            </a:extLst>
          </p:cNvPr>
          <p:cNvSpPr/>
          <p:nvPr/>
        </p:nvSpPr>
        <p:spPr>
          <a:xfrm>
            <a:off x="3086862" y="6321933"/>
            <a:ext cx="109728" cy="109728"/>
          </a:xfrm>
          <a:prstGeom prst="rect">
            <a:avLst/>
          </a:prstGeom>
          <a:solidFill>
            <a:srgbClr val="7B7BFF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9" name="Text 182">
            <a:extLst>
              <a:ext uri="{FF2B5EF4-FFF2-40B4-BE49-F238E27FC236}">
                <a16:creationId xmlns:a16="http://schemas.microsoft.com/office/drawing/2014/main" id="{B9E95540-6FC6-01A3-D7E7-C1E72ADF220F}"/>
              </a:ext>
            </a:extLst>
          </p:cNvPr>
          <p:cNvSpPr/>
          <p:nvPr/>
        </p:nvSpPr>
        <p:spPr>
          <a:xfrm>
            <a:off x="3291840" y="6312789"/>
            <a:ext cx="2130552" cy="128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 — AI + human coder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0" name="Shape 183">
            <a:extLst>
              <a:ext uri="{FF2B5EF4-FFF2-40B4-BE49-F238E27FC236}">
                <a16:creationId xmlns:a16="http://schemas.microsoft.com/office/drawing/2014/main" id="{9E921D2D-9535-980F-C8CA-E4111F8060FD}"/>
              </a:ext>
            </a:extLst>
          </p:cNvPr>
          <p:cNvSpPr/>
          <p:nvPr/>
        </p:nvSpPr>
        <p:spPr>
          <a:xfrm>
            <a:off x="6108192" y="6321933"/>
            <a:ext cx="109728" cy="109728"/>
          </a:xfrm>
          <a:prstGeom prst="rect">
            <a:avLst/>
          </a:prstGeom>
          <a:solidFill>
            <a:srgbClr val="E87A40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1" name="Text 184">
            <a:extLst>
              <a:ext uri="{FF2B5EF4-FFF2-40B4-BE49-F238E27FC236}">
                <a16:creationId xmlns:a16="http://schemas.microsoft.com/office/drawing/2014/main" id="{298C23F6-97EE-845F-A33E-6AB342E613DB}"/>
              </a:ext>
            </a:extLst>
          </p:cNvPr>
          <p:cNvSpPr/>
          <p:nvPr/>
        </p:nvSpPr>
        <p:spPr>
          <a:xfrm>
            <a:off x="6263640" y="6312789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Human sign-off required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Shape 71">
            <a:extLst>
              <a:ext uri="{FF2B5EF4-FFF2-40B4-BE49-F238E27FC236}">
                <a16:creationId xmlns:a16="http://schemas.microsoft.com/office/drawing/2014/main" id="{AF3A2E8F-3C59-95BE-234A-2D0B0B79C4A3}"/>
              </a:ext>
            </a:extLst>
          </p:cNvPr>
          <p:cNvSpPr/>
          <p:nvPr/>
        </p:nvSpPr>
        <p:spPr>
          <a:xfrm>
            <a:off x="210312" y="2516123"/>
            <a:ext cx="11795760" cy="731520"/>
          </a:xfrm>
          <a:prstGeom prst="rect">
            <a:avLst/>
          </a:prstGeom>
          <a:solidFill>
            <a:srgbClr val="0A1628"/>
          </a:solidFill>
          <a:ln w="10160">
            <a:solidFill>
              <a:schemeClr val="accent4">
                <a:lumMod val="7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 73">
            <a:extLst>
              <a:ext uri="{FF2B5EF4-FFF2-40B4-BE49-F238E27FC236}">
                <a16:creationId xmlns:a16="http://schemas.microsoft.com/office/drawing/2014/main" id="{A0ADF130-80A4-CB77-CAF1-429919FEAAC0}"/>
              </a:ext>
            </a:extLst>
          </p:cNvPr>
          <p:cNvSpPr/>
          <p:nvPr/>
        </p:nvSpPr>
        <p:spPr>
          <a:xfrm>
            <a:off x="365760" y="2567171"/>
            <a:ext cx="5730240" cy="204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DECISIONING &amp; ONTOLOGY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DFED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72">
            <a:extLst>
              <a:ext uri="{FF2B5EF4-FFF2-40B4-BE49-F238E27FC236}">
                <a16:creationId xmlns:a16="http://schemas.microsoft.com/office/drawing/2014/main" id="{3F75C3C2-A185-73DF-F574-265632A453CA}"/>
              </a:ext>
            </a:extLst>
          </p:cNvPr>
          <p:cNvSpPr/>
          <p:nvPr/>
        </p:nvSpPr>
        <p:spPr>
          <a:xfrm>
            <a:off x="220980" y="2518029"/>
            <a:ext cx="64008" cy="7315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Shape 76">
            <a:extLst>
              <a:ext uri="{FF2B5EF4-FFF2-40B4-BE49-F238E27FC236}">
                <a16:creationId xmlns:a16="http://schemas.microsoft.com/office/drawing/2014/main" id="{7108C9D1-73E3-8FAB-B2DE-2CF0968E02F3}"/>
              </a:ext>
            </a:extLst>
          </p:cNvPr>
          <p:cNvSpPr/>
          <p:nvPr/>
        </p:nvSpPr>
        <p:spPr>
          <a:xfrm>
            <a:off x="6144768" y="2751581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Shape 76">
            <a:extLst>
              <a:ext uri="{FF2B5EF4-FFF2-40B4-BE49-F238E27FC236}">
                <a16:creationId xmlns:a16="http://schemas.microsoft.com/office/drawing/2014/main" id="{B4FDE7D9-BB8C-7F98-62E9-1056FB22EA69}"/>
              </a:ext>
            </a:extLst>
          </p:cNvPr>
          <p:cNvSpPr/>
          <p:nvPr/>
        </p:nvSpPr>
        <p:spPr>
          <a:xfrm>
            <a:off x="3348609" y="2751582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7" name="Shape 76">
            <a:extLst>
              <a:ext uri="{FF2B5EF4-FFF2-40B4-BE49-F238E27FC236}">
                <a16:creationId xmlns:a16="http://schemas.microsoft.com/office/drawing/2014/main" id="{4D718DD1-7A4D-AD1C-F4D8-3065C730151F}"/>
              </a:ext>
            </a:extLst>
          </p:cNvPr>
          <p:cNvSpPr/>
          <p:nvPr/>
        </p:nvSpPr>
        <p:spPr>
          <a:xfrm>
            <a:off x="566547" y="2751581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3" name="Shape 76">
            <a:extLst>
              <a:ext uri="{FF2B5EF4-FFF2-40B4-BE49-F238E27FC236}">
                <a16:creationId xmlns:a16="http://schemas.microsoft.com/office/drawing/2014/main" id="{D10F0C40-A08B-1263-3783-E590A539CBDB}"/>
              </a:ext>
            </a:extLst>
          </p:cNvPr>
          <p:cNvSpPr/>
          <p:nvPr/>
        </p:nvSpPr>
        <p:spPr>
          <a:xfrm>
            <a:off x="863346" y="2819400"/>
            <a:ext cx="2030350" cy="30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Payer Rules &amp; Medical Policies</a:t>
            </a:r>
          </a:p>
        </p:txBody>
      </p:sp>
      <p:sp>
        <p:nvSpPr>
          <p:cNvPr id="198" name="Shape 76">
            <a:extLst>
              <a:ext uri="{FF2B5EF4-FFF2-40B4-BE49-F238E27FC236}">
                <a16:creationId xmlns:a16="http://schemas.microsoft.com/office/drawing/2014/main" id="{FD13BFF0-5C72-4B28-50A7-7231EC39A1F6}"/>
              </a:ext>
            </a:extLst>
          </p:cNvPr>
          <p:cNvSpPr/>
          <p:nvPr/>
        </p:nvSpPr>
        <p:spPr>
          <a:xfrm>
            <a:off x="3657218" y="2825688"/>
            <a:ext cx="2030350" cy="30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terms &amp; fee schedules</a:t>
            </a:r>
          </a:p>
        </p:txBody>
      </p:sp>
      <p:sp>
        <p:nvSpPr>
          <p:cNvPr id="199" name="Shape 76">
            <a:extLst>
              <a:ext uri="{FF2B5EF4-FFF2-40B4-BE49-F238E27FC236}">
                <a16:creationId xmlns:a16="http://schemas.microsoft.com/office/drawing/2014/main" id="{C82357A7-4BB7-AC91-E791-DEF5D1EA7060}"/>
              </a:ext>
            </a:extLst>
          </p:cNvPr>
          <p:cNvSpPr/>
          <p:nvPr/>
        </p:nvSpPr>
        <p:spPr>
          <a:xfrm>
            <a:off x="6427850" y="2806638"/>
            <a:ext cx="2346580" cy="30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RCM Rule Engine + Predictive models</a:t>
            </a:r>
          </a:p>
        </p:txBody>
      </p:sp>
      <p:sp>
        <p:nvSpPr>
          <p:cNvPr id="202" name="Shape 148">
            <a:extLst>
              <a:ext uri="{FF2B5EF4-FFF2-40B4-BE49-F238E27FC236}">
                <a16:creationId xmlns:a16="http://schemas.microsoft.com/office/drawing/2014/main" id="{E2650EC2-7C01-DBD4-4281-4E993BB1CD9A}"/>
              </a:ext>
            </a:extLst>
          </p:cNvPr>
          <p:cNvSpPr/>
          <p:nvPr/>
        </p:nvSpPr>
        <p:spPr>
          <a:xfrm flipH="1">
            <a:off x="5833110" y="4316730"/>
            <a:ext cx="0" cy="60960"/>
          </a:xfrm>
          <a:prstGeom prst="line">
            <a:avLst/>
          </a:prstGeom>
          <a:noFill/>
          <a:ln w="1524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Shape 74">
            <a:extLst>
              <a:ext uri="{FF2B5EF4-FFF2-40B4-BE49-F238E27FC236}">
                <a16:creationId xmlns:a16="http://schemas.microsoft.com/office/drawing/2014/main" id="{803FD1BF-4897-8EEB-FD03-39CC7E1F4F11}"/>
              </a:ext>
            </a:extLst>
          </p:cNvPr>
          <p:cNvSpPr/>
          <p:nvPr/>
        </p:nvSpPr>
        <p:spPr>
          <a:xfrm>
            <a:off x="10818495" y="2554605"/>
            <a:ext cx="1143000" cy="201168"/>
          </a:xfrm>
          <a:prstGeom prst="rect">
            <a:avLst/>
          </a:prstGeom>
          <a:solidFill>
            <a:srgbClr val="1DC98A">
              <a:alpha val="18000"/>
            </a:srgbClr>
          </a:solidFill>
          <a:ln w="762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DFED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4" name="Text 75">
            <a:extLst>
              <a:ext uri="{FF2B5EF4-FFF2-40B4-BE49-F238E27FC236}">
                <a16:creationId xmlns:a16="http://schemas.microsoft.com/office/drawing/2014/main" id="{C9EB9488-3ADE-9263-BDCB-4AEE54FED542}"/>
              </a:ext>
            </a:extLst>
          </p:cNvPr>
          <p:cNvSpPr/>
          <p:nvPr/>
        </p:nvSpPr>
        <p:spPr>
          <a:xfrm>
            <a:off x="10818495" y="2554605"/>
            <a:ext cx="1143000" cy="201168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DFED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5" name="Shape 88">
            <a:extLst>
              <a:ext uri="{FF2B5EF4-FFF2-40B4-BE49-F238E27FC236}">
                <a16:creationId xmlns:a16="http://schemas.microsoft.com/office/drawing/2014/main" id="{032D2AE3-22AD-B730-0257-4EEA71630AFC}"/>
              </a:ext>
            </a:extLst>
          </p:cNvPr>
          <p:cNvSpPr/>
          <p:nvPr/>
        </p:nvSpPr>
        <p:spPr>
          <a:xfrm flipH="1">
            <a:off x="5852160" y="3249550"/>
            <a:ext cx="0" cy="204596"/>
          </a:xfrm>
          <a:prstGeom prst="line">
            <a:avLst/>
          </a:prstGeom>
          <a:noFill/>
          <a:ln w="1524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Shape 76">
            <a:extLst>
              <a:ext uri="{FF2B5EF4-FFF2-40B4-BE49-F238E27FC236}">
                <a16:creationId xmlns:a16="http://schemas.microsoft.com/office/drawing/2014/main" id="{48A9DFB4-EE72-7B49-5EDC-E7DD39F220FC}"/>
              </a:ext>
            </a:extLst>
          </p:cNvPr>
          <p:cNvSpPr/>
          <p:nvPr/>
        </p:nvSpPr>
        <p:spPr>
          <a:xfrm>
            <a:off x="8929116" y="2751202"/>
            <a:ext cx="2697480" cy="420624"/>
          </a:xfrm>
          <a:prstGeom prst="rect">
            <a:avLst/>
          </a:prstGeom>
          <a:solidFill>
            <a:srgbClr val="0A1C2E"/>
          </a:solidFill>
          <a:ln w="762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Shape 76">
            <a:extLst>
              <a:ext uri="{FF2B5EF4-FFF2-40B4-BE49-F238E27FC236}">
                <a16:creationId xmlns:a16="http://schemas.microsoft.com/office/drawing/2014/main" id="{82D5CDE6-0098-4527-21F9-2C16FDF54CDB}"/>
              </a:ext>
            </a:extLst>
          </p:cNvPr>
          <p:cNvSpPr/>
          <p:nvPr/>
        </p:nvSpPr>
        <p:spPr>
          <a:xfrm>
            <a:off x="9153144" y="2825688"/>
            <a:ext cx="2346580" cy="30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&amp; Clinical Evidence </a:t>
            </a:r>
          </a:p>
        </p:txBody>
      </p:sp>
    </p:spTree>
    <p:extLst>
      <p:ext uri="{BB962C8B-B14F-4D97-AF65-F5344CB8AC3E}">
        <p14:creationId xmlns:p14="http://schemas.microsoft.com/office/powerpoint/2010/main" val="211480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5416-1E64-017A-8258-8E19EBCA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B0DAF-FA77-351F-57D5-952C688DF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C5497-DDC2-C24D-2AD3-8C28FE5E6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A45B8F-31F9-A6FA-9766-610BE7158A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01- Patient Registration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FB53AD3-4B81-68B4-8A6F-0AB1F1BA7AC2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57AA1BA1-D771-838E-546C-0EBE26D0F5ED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A8E17537-3032-DCB2-DD68-01F9C3D726C6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70E6923F-C5AE-45D4-2FEE-E9C4A2F13797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31CF380C-71F6-E17F-6087-9F22615B0823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79009894-C962-B9AF-C524-F33CB23872AD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93DCCF3B-62A3-CB09-4373-478AB26FF7E7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F915D442-98F1-6CFC-E179-BE25C1EC074D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BC3DA288-95CF-2121-496F-7988E7101C9D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6900F93F-82B6-81E4-C3EA-83C3D68D1AB5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965E36F8-F6D9-5D77-6BA0-0C2B53119B83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3E52479F-822A-042F-E76D-59A36A799B1E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51E11B9C-F497-BCCE-04C2-33C7B8388E24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84AFAE41-551D-BF3B-A521-E0131CE5ADFF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6982ECAB-B7B7-12B6-9164-8F927FFDADE6}"/>
              </a:ext>
            </a:extLst>
          </p:cNvPr>
          <p:cNvSpPr/>
          <p:nvPr/>
        </p:nvSpPr>
        <p:spPr>
          <a:xfrm>
            <a:off x="17510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A186DDE0-BDEF-2708-E659-78729427D81F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AB5429B8-831C-1620-C8A7-CFA09BF304A4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6540B3B6-8990-4EBB-6907-C291A6D61C3B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417EAEA3-1D75-D0DE-182E-C5FB525B113D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14B43945-3CE5-3C0F-8261-E35B8DD51E6A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B16F98A9-11A1-2AF0-38AF-0769F0390E39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54D72A42-B23E-8485-8AFA-B87BFD50F04E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28FC5D5B-84E1-D1CC-C9DE-99781B0F5E60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8DE10615-B089-7A2C-FF24-2B7BB7846BD7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15849156-9D5C-32E6-9F3F-AF0C753F378A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FB12BBA4-2D91-27EC-EA23-7E80B9C5276D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464FC097-DDF4-DC8C-4A82-77FBC2C1C438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8AE4C63E-D90D-A309-2BBF-C549193CEC00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C03ACA78-5F13-7513-490E-ED1C799D4972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E9FADE70-9B46-E580-B72E-79F702406568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FD7EE6A2-A7FA-0276-6B26-456B6526684E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232EBCA5-0BED-6631-0854-4442EEED184B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C6467701-E8B8-D45E-C05F-215B63CD4F61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8A266ADB-1485-AE10-9C49-1BFA95FC835B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98D3DFD1-DFE4-D02C-FBEA-69D032D1D182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8DE23709-EDBF-EB3F-B41A-6B2993EB08F6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F946059E-5D0F-BAF6-81B6-206B83A7EC44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ABD4FF11-9090-47E1-9D6C-FE413248B97B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7B705C6A-9315-EBC4-1FFB-5FED7EA2B602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B228AA45-37EA-EF1B-3D71-AE4E03ED1496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8FAC5416-1141-8E2E-36EC-0D8BCCD5DDAA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8CB6BBDA-7D4B-5E79-0B5A-98319FB65D6E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87FB881C-38A9-2C68-928B-43F5E432AE0C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E2D89F0E-8703-571A-2A63-D577FC36C371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134E74DC-E5AB-CA8C-C57F-D93D38310E84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216419F8-1230-0D7B-AC86-2151FE5EF56C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AC536701-8910-C5BF-5AA2-32B9DD720DB1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21971218-EC73-47E9-F392-1615B76E2006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6816A009-9414-5175-BF81-13F3374CB20F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B86B5BCF-5EF2-317C-AD62-379428F13399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7908129F-BB25-91DE-6668-081526225335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BE0A3E42-864F-A4F9-2B27-96AE160F997B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FAF9275C-C265-02C1-77FF-2E25A3DD53D2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30445EBE-48BA-77A5-4F9A-1DB74422D0EA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34C5EFFF-FB52-56D5-453A-F545795667BC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63ED8AF9-9AD6-9304-380A-33732AA3697F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AF31C5F1-DF2F-28E2-E262-BE0B3B9E9BD2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488B47C2-4F04-EB05-6555-5F99BF57E237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62B31AD2-B756-E97E-85FC-BA98044779D3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FC66155-60CB-B05C-FF3E-3E70F8130F2D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D437D99-46AC-91BE-1AD7-43235909005D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E280F1B-E19E-31D9-11D8-2179AC75752F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2AF923C-4140-6523-7923-C754E1CD7F4B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BE83DF6-61E9-6E72-9E6B-B017D56B8238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E43EDD3-98A3-BF37-DF46-02F7B17E6153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DD2064A-F253-F6C2-AA70-86A8C4709FEE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F1227A-E919-D51D-BC97-96E01FA2CB38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689E63-7B73-C286-D1B9-2AFBD34F0068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DB0FD5-3F40-973F-7708-A8BB594DC188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A06F32B-1D20-2487-C6B7-A269260D2553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BF89528-E78E-5E0F-CD37-A201D56C3B7E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AE3F98-AA4A-BA3A-8A22-6DB869AFE1C6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19E412-CE9A-1CE9-E516-CCC6773500A5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Fully Autonomous with human audit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112A5D-9357-A438-739E-466A78D89EB7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Registration + Eligibility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898F43-8A92-3DC0-BB16-D657CCA36AD5}"/>
              </a:ext>
            </a:extLst>
          </p:cNvPr>
          <p:cNvSpPr txBox="1"/>
          <p:nvPr/>
        </p:nvSpPr>
        <p:spPr>
          <a:xfrm>
            <a:off x="8357615" y="3300657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OCR on insurance cards,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Auto-populate demographics,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Missing or incomplete data detection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090701-4076-9A88-3DF7-3EE9DA004A8B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 feeds, patient master index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2C4E79-D0FC-40A6-4B98-E265F0695781}"/>
              </a:ext>
            </a:extLst>
          </p:cNvPr>
          <p:cNvSpPr txBox="1"/>
          <p:nvPr/>
        </p:nvSpPr>
        <p:spPr>
          <a:xfrm>
            <a:off x="4589145" y="487011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Verified patient record with payer ID mapped and eligibility pre-checked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938671C-20ED-5353-8858-038059BC5C2F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80% registration errors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55AC7E9-D7C3-7A98-CD5C-0491716465A2}"/>
              </a:ext>
            </a:extLst>
          </p:cNvPr>
          <p:cNvCxnSpPr>
            <a:cxnSpLocks/>
          </p:cNvCxnSpPr>
          <p:nvPr/>
        </p:nvCxnSpPr>
        <p:spPr>
          <a:xfrm flipV="1">
            <a:off x="8433816" y="50882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FF7001B-E3F3-D43D-57EB-6E2CE48E4DA1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98C49C0-A8CF-C844-3BC1-156A8203DD0F}"/>
              </a:ext>
            </a:extLst>
          </p:cNvPr>
          <p:cNvSpPr txBox="1"/>
          <p:nvPr/>
        </p:nvSpPr>
        <p:spPr>
          <a:xfrm>
            <a:off x="8477631" y="5021297"/>
            <a:ext cx="2274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Front end clean rate</a:t>
            </a:r>
          </a:p>
        </p:txBody>
      </p:sp>
    </p:spTree>
    <p:extLst>
      <p:ext uri="{BB962C8B-B14F-4D97-AF65-F5344CB8AC3E}">
        <p14:creationId xmlns:p14="http://schemas.microsoft.com/office/powerpoint/2010/main" val="389576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2F33-99CE-00C4-F7F7-4C5CCAE3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FF07-3D75-C3A1-F4BD-7028BC16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CE2C1-45AA-4E61-9471-C5137A549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FB5B9-3A6E-611D-2897-99245C262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933418-2C0F-D433-ED21-F0756551B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02- Eligibility Verification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B355685-EB9C-1F87-B256-0867E37F2550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0B04455C-C81B-2E56-91CA-EF6B771EF1F7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7083B2B6-0928-BB9B-CB06-D82AC368274E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86F2FB60-658E-DAE4-42D6-C7C2B7A7A350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D662F9BC-2AC1-7FD1-DAEF-58D86C64E0BA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5C40B389-6D8F-9607-C6E4-F765F223C372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F520AD25-67C3-D1BB-D197-9974676030CD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chemeClr val="tx1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6437C39B-0208-74AE-1768-4268979CE6E7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2486E233-2A2C-DC7F-1F9D-FDFF3298F8E7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9A3FC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9A3FC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9A3FC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9A3FC">
                  <a:lumMod val="20000"/>
                  <a:lumOff val="8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6A1E35FF-9F28-3A35-6F1C-41FBAD08D3A4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177A5232-18AA-ABF9-1F23-7F8A11A41F84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FBE5BCD1-6423-0D64-1AC7-6AC5144831C8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4E7E6A10-1EC7-297F-7BD9-B220535556DB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BDCC86F3-CEB0-2462-9584-AB19085E087D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9C740E1E-DFD9-8FCE-4D5A-4D47B19DBB24}"/>
              </a:ext>
            </a:extLst>
          </p:cNvPr>
          <p:cNvSpPr/>
          <p:nvPr/>
        </p:nvSpPr>
        <p:spPr>
          <a:xfrm>
            <a:off x="1751076" y="16649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7DE6D9FE-43A8-AB27-E6AD-3CA8778A4647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6CFEA675-7843-8C2F-6AAB-1CD8D0D72D21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D7961C13-55D2-B6DD-76B8-3CDBFA43735B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A9ADBFB3-92F1-35B2-99F1-2862F14E0289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D520C273-559F-96AC-E9B0-498E8B710F9D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922854E1-24D8-8103-3C05-36C72653C747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C6EFE007-CB8E-04D4-A85F-8F311D907A17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6D9B3D51-0287-C44C-ED38-46D18776B004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C0D0A0EA-508B-7AD6-EC5F-6F6C16B471CE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794C5B4E-94E1-8C01-0C3F-E0C466B6E969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7C54A9AF-0C11-FE47-180A-EBC987935BB8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1ADAC0D4-48E0-9383-F35B-263B90AD4173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743E0800-8DAC-A5C7-D6C6-C5BA54C811CB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C9FA7E21-7905-0958-BE83-85B7A2D72AC6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02CC9C79-496D-73FC-767A-7653F4FB163C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A93E6487-61F9-6A60-9FBD-5D2CD4D36737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7F7439B7-A711-C192-E43A-E73D6F5F3AC1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5B4703B6-8B20-3094-20A0-B1853268D1DF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690E4D43-FE34-D2B0-5B5B-DCDBB20B67B5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798AB614-1194-6593-B213-CA7AE4470A30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5B8B9F10-6333-32E6-3BB8-C5C13E41C6EC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85F63CFC-F1A3-BFC1-E54C-278E40B14340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9C0F75D7-C7A9-E727-AC96-6D1A0FFED9D8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9835D470-09EA-F0B2-092A-3EC1EA49B276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BD3DE7C8-8EA2-3E7C-6BD3-8CF02248FF32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08E6A4BA-7FC0-05DC-3F33-32A6BBF913E8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AFD87E74-13A6-CADF-2657-703164510B04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A45370F9-17E3-A3CA-A560-465BEC8A63A0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276B74AB-C2B4-2CD8-3C49-8BD0F5613B53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63E6AFA3-DBB3-E61E-1D5A-3140C4DE90C6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4AB29CF3-2B33-9E6C-6B82-10A55722F933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28060517-3A1E-1D3C-16AD-48621BED323A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F079CA4B-6E53-B899-1FED-C292C7BF5633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60229DA6-C740-26BA-3B83-D41AA2747371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784FD44A-0F6F-0360-029B-F3F57E6B7795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09CFF159-F179-9DB4-876F-EE7D05FD8D2E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E7EE1510-E6F7-49C9-BF3F-FC24239A9356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DDCC5E0D-56DE-93EC-AB1C-4821E96AFDD5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0AB479D0-AC5C-2D86-5112-875101165111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C947F681-AFD9-DEFE-D5D3-93FB90AA2FE0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910E33B5-DDD4-3125-E6EC-AB3030B3EE08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B3976892-B809-6283-AF7E-CFD3545043E9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C14452D4-F9CC-3EB2-A5B8-99E49DF6119A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3EEE9A96-30EC-CD23-D7EF-5BB2FCD895B2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448584D-ACA6-6FA4-EAE0-4728FF5E8B26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670102D-D3F6-3D29-AB6D-D0AED5A48D59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D3C16CC-F96D-AA9A-EC6B-FEAB43534006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1EFF411D-61A0-D60E-0AE8-B5575AF87D14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B879FD7-4117-91BF-42CA-795B8B2D641F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E35DF10-7712-2275-1ABF-FB1E6A4B2AA9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5C1C2E8-2C62-0CF2-40D9-6E11690BBFF5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1F87AB-6519-C09D-6A44-61F388929411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EC13367-4464-A1BE-C1BC-168A99DDACBF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451544-38F0-FD9D-D0F4-DD5F943B8037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B833CD-51ED-9DE7-E0F6-D65D6562DCFA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812B18-5591-ACC1-B98A-7894E35D1965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EC11C8-954A-F16F-5B77-D355FD51A125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862869-3F28-FB75-5FA6-31C617E7513A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Fully Autonomous, real-time, 24x7 continuous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D27CD2-8A54-25E8-DADE-5A2703B0E9A6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Eligibility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F9F096-52AF-979D-ADAC-3F90639DD987}"/>
              </a:ext>
            </a:extLst>
          </p:cNvPr>
          <p:cNvSpPr txBox="1"/>
          <p:nvPr/>
        </p:nvSpPr>
        <p:spPr>
          <a:xfrm>
            <a:off x="8352662" y="3339274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270/271 real-time payer queries,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Benefit &amp; co-pay extraction,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COB identification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484DE58-1BD8-63E4-F92E-7751E48EE870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Insurance segments, appointment feeds, patient demographics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3656C1-B49A-1708-3138-9115E43668A5}"/>
              </a:ext>
            </a:extLst>
          </p:cNvPr>
          <p:cNvSpPr txBox="1"/>
          <p:nvPr/>
        </p:nvSpPr>
        <p:spPr>
          <a:xfrm>
            <a:off x="4589145" y="4802505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Verified coverage snapshot attached to encounter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Patient liability estimate surfaced to front desk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78EA4FD-916A-F28A-0A84-0EF269AED0E7}"/>
              </a:ext>
            </a:extLst>
          </p:cNvPr>
          <p:cNvSpPr txBox="1"/>
          <p:nvPr/>
        </p:nvSpPr>
        <p:spPr>
          <a:xfrm>
            <a:off x="8555736" y="4869180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Reduction in eligibility denials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37A19B3-7D08-D552-44DF-71212A7CB523}"/>
              </a:ext>
            </a:extLst>
          </p:cNvPr>
          <p:cNvCxnSpPr>
            <a:cxnSpLocks/>
          </p:cNvCxnSpPr>
          <p:nvPr/>
        </p:nvCxnSpPr>
        <p:spPr>
          <a:xfrm>
            <a:off x="8424291" y="48577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2518E7-6E29-42BE-D595-FA6D8BBE229E}"/>
              </a:ext>
            </a:extLst>
          </p:cNvPr>
          <p:cNvCxnSpPr>
            <a:cxnSpLocks/>
          </p:cNvCxnSpPr>
          <p:nvPr/>
        </p:nvCxnSpPr>
        <p:spPr>
          <a:xfrm flipV="1">
            <a:off x="8433816" y="51263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31D2800-F162-3D92-081B-4589E7C72890}"/>
              </a:ext>
            </a:extLst>
          </p:cNvPr>
          <p:cNvSpPr txBox="1"/>
          <p:nvPr/>
        </p:nvSpPr>
        <p:spPr>
          <a:xfrm>
            <a:off x="8477630" y="5059397"/>
            <a:ext cx="3226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point-of-service collections</a:t>
            </a:r>
          </a:p>
        </p:txBody>
      </p:sp>
    </p:spTree>
    <p:extLst>
      <p:ext uri="{BB962C8B-B14F-4D97-AF65-F5344CB8AC3E}">
        <p14:creationId xmlns:p14="http://schemas.microsoft.com/office/powerpoint/2010/main" val="223026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5682-5572-0FF3-29C6-CD23A137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DC35-8BE5-75C5-75D5-E59674D9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D6865-73FE-FD03-0306-3CE0D446C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BC34E-961E-3A9F-A946-1332EC9D0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F15E90-E8AF-E980-05AE-ECDD8DC70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03- Prior Authorization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41F93BD-C069-F2DF-9254-5F78338D5594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9EEE5BF0-7FE2-1DBF-43A3-4A9C7F7DD25B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E5D9F806-D1D5-B9D4-ECBE-5BCE17E74643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7813B1AE-D689-2674-8DE1-117E891F2837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ADFB8759-BA8D-76C8-5090-22816362091D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119C13A2-B967-DCE9-4C1D-01D306B5F05E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E5295144-AE3C-6850-B114-A27E5F149C3B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6EAE563A-ADAB-5DFB-D380-9108D7E2398A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AF25AA3A-2940-D60C-CE39-5BF559CE8E3C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6B85E28B-2146-45BC-151F-AD161430C2E8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9F62D94B-B10C-D96C-D91B-E875455DB4CD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31FA46C7-8D79-9FFA-3588-F8C3CEBD35C4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5C02CFE2-E8BA-76CC-EA93-5A0EE9C35F45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11050049-9D93-7937-B835-F64291FD8C2F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6DB7DA9B-9367-4964-D34B-246EE7AA8F26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3918D109-96DA-4B25-E9A3-B3CDF7CAF8A5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279EA61E-DBBC-076F-3263-CF8D96881690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376B79D1-3846-C430-0DF2-91CFC57E85E4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A892BA30-C2DF-D946-7476-2EFC4C04E0C0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C4FCCAC7-5F2F-EDAD-0A79-5B008EE2B6BE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0EE425DC-3E97-1DCB-4A44-D0338DEF30A2}"/>
              </a:ext>
            </a:extLst>
          </p:cNvPr>
          <p:cNvSpPr/>
          <p:nvPr/>
        </p:nvSpPr>
        <p:spPr>
          <a:xfrm>
            <a:off x="30083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2B2140F1-D756-67D7-983D-401D105CA3F1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9C78780C-9BCA-D1CE-8B01-607AD890BD7E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C8E7E019-6C46-59F0-6CE5-E17C07FD1D76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7ECC9347-26B9-1025-8AF6-4EE1EE4EF2BD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94B22AF7-C9FF-54ED-B8B0-889FC436F420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7AC5FC9D-399A-B6A4-CF49-5BD836DAB2DE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A4545EE4-61C8-69E2-0570-151515BE8A33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3607388F-B759-8B5E-1B46-0676F59692E1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F8450D34-8ACE-AA74-7BC3-C19173EC3959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114F09A6-98FD-EB1C-EF7E-CC7A8399DBEA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8CB53195-6A6A-5A2D-2102-5A24A6B3D8C2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CFEE2851-C760-6D93-372C-EF93559D7544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5D9D7C00-BC83-4DD6-FFD5-57BB14C288DF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98C35EE1-17BC-B7D1-2C41-3BB2F5207F08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B4530973-582E-7D49-41DD-CEA8E7F44853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1F2D29C9-7C7F-12BB-BC81-AE146F2B3120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221CCAB1-997D-BE1C-6FB3-988007B0D1E9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3F43A38D-50B3-8904-1A35-E5BEE2B54A3F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EAB8DA9D-A3D5-7695-4974-933504A44EB2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3FECAC41-7E72-1FDF-7B82-3E29F4CC4840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EBC1A6D3-EE6C-F754-369C-CC6A8AD1C633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A6EF05AC-79F6-05C0-8696-B9CDF8703CD0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B5A78BF4-ED24-9C76-8D27-7899AFBB12F5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EB4FC971-9220-EB8E-9018-1DFBC36A3118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5320191A-2F41-9383-7397-C47457CF5655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08C700B0-F053-680F-0AF7-FBDAC4275313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9FE5AC23-52F6-CE88-7F8F-D8EAD1FC8DE8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4E5BDEE6-39D7-AF75-6534-04EEAD775313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A52599EA-1A22-7A47-0DE2-7A14AB35465A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95C636E2-8218-45FB-D0B9-E8B7E9058A96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51F9E6FF-A6CA-A6D8-90D9-3CB8BFBABDBD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1BA92928-283A-FEF1-3BB6-6E947DD5580D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1345D173-E77C-182B-A0AE-70163AB67C98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C3A4D282-4382-A9E0-A819-AC1D9F428D32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F7AAA548-F03B-9C0A-5636-A410F227F94B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6452181D-AEF6-9B3D-AFBF-31A6E27C8BBF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DB6B7408-15F5-A4C9-CCFF-0CEF08B2C104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CA31EC05-CD12-93E0-FD2D-AE5725670CEA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78B19DB-FEA0-9E61-5202-642F773B3D98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39C13BF-1868-D58A-B07A-130BF94F9DC7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CF00871-12B5-9B0A-06E5-8EDFAC849A48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9EA3FC9-A1A6-E110-D4C7-70C8720D52A5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CE302B9-07F1-FF3B-2C4F-EDA5AB77CA3C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93263FE-75A0-8662-556A-2091FF854467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731F72A-9C50-B0D0-0C70-43985EC4E7A9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822790-74B8-02D3-7639-804418EC48A7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657E46-BA91-481C-8550-DFF65AEF0186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6B0EF2-ACE4-45B8-5E5C-3C2AD24FAC4E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6CFA9D-DC4C-2D7D-019C-F2C8E8618AD4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EE164B-DED7-98BF-8462-E5272F4E03BD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5E7DC8-D678-1A26-2354-3B8FFD8A98FE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17BF22-71AD-1612-8B43-D8A7A5DD6A51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Autonomous submission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Assisted follow up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D7D5F7-2CBD-030F-2D77-28C2E19F181E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Prior Auth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96EF229-4512-C1A0-C64F-31275647FCD6}"/>
              </a:ext>
            </a:extLst>
          </p:cNvPr>
          <p:cNvSpPr txBox="1"/>
          <p:nvPr/>
        </p:nvSpPr>
        <p:spPr>
          <a:xfrm>
            <a:off x="8250173" y="3238976"/>
            <a:ext cx="3097531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Service to payer PA requirement lookup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criteria match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 submission via payer portals, fax, FHIR API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Status polling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6ACA6B-4745-B659-C142-2A28C16CBBA7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Order sets, diagnosis history, clinical notes &amp; procedure codes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410F30-BCAF-BA33-EFAD-765F06D11270}"/>
              </a:ext>
            </a:extLst>
          </p:cNvPr>
          <p:cNvSpPr txBox="1"/>
          <p:nvPr/>
        </p:nvSpPr>
        <p:spPr>
          <a:xfrm>
            <a:off x="4583811" y="479298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Auth captured in EHR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Flag raised if auth expires or is denied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Appeal auto-drafted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DACFE5-DC50-0C19-F6E6-42BFC52909CC}"/>
              </a:ext>
            </a:extLst>
          </p:cNvPr>
          <p:cNvSpPr txBox="1"/>
          <p:nvPr/>
        </p:nvSpPr>
        <p:spPr>
          <a:xfrm>
            <a:off x="8558212" y="4842190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Reduction in auth related denials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351BB0E-E6F6-77CD-C128-C65172994DE3}"/>
              </a:ext>
            </a:extLst>
          </p:cNvPr>
          <p:cNvCxnSpPr>
            <a:cxnSpLocks/>
          </p:cNvCxnSpPr>
          <p:nvPr/>
        </p:nvCxnSpPr>
        <p:spPr>
          <a:xfrm flipV="1">
            <a:off x="8433816" y="51263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3DDA44F-5223-4F9C-63CC-E318D72FAE9E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A7B169C-01D5-8D3C-23B3-4E4A0A2A207B}"/>
              </a:ext>
            </a:extLst>
          </p:cNvPr>
          <p:cNvSpPr txBox="1"/>
          <p:nvPr/>
        </p:nvSpPr>
        <p:spPr>
          <a:xfrm>
            <a:off x="8477630" y="5021297"/>
            <a:ext cx="3190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auth turn around from days to hours/minutes</a:t>
            </a:r>
          </a:p>
        </p:txBody>
      </p:sp>
    </p:spTree>
    <p:extLst>
      <p:ext uri="{BB962C8B-B14F-4D97-AF65-F5344CB8AC3E}">
        <p14:creationId xmlns:p14="http://schemas.microsoft.com/office/powerpoint/2010/main" val="133064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B7DD-A278-203C-C2B4-A721D98E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8E61-4FCD-89A7-A175-F59AFBBC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499B0-9AC3-1459-FC55-AF8E0C819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5CB43-1E64-232E-918F-603D97CDD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350052-0996-66C0-236E-70F2D536ED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04- Clinical Documentation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CDBB550-A437-A3B5-EEE4-16E8A117947D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3CBA7822-FC84-2956-46B3-753450AB2E85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533B4B64-2158-172D-D4CB-E33D8C4DADE5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A6493C34-FDF4-8113-25AE-D500ED33CE95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D813BF56-7003-9A61-355A-C387CBEAEF01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1CB80316-3809-93AC-F013-31EB5B017D82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37FD1BC2-822D-A93C-CB1B-06BBCE3B3FE8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988180C2-6544-5773-7BD6-76B0D41AD1AC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EC624A17-F668-8FCF-2E77-8458D167CD91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18CEB626-EE20-136D-61E9-EF759A1CBDC7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9453DDCB-BCA6-FB95-B4ED-443F736F5C45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6B9659C4-A93E-8432-5860-174E6FD29F4A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388F7184-15F0-19E0-2505-35EDEC272471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E55E019B-C62B-25AA-A5ED-B4C2153439DB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BCDB0FBD-649A-6DE0-E624-1AAE99BDD096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CB485641-5CE6-8B81-1762-449D4C067AAF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D7644C8C-F344-AA4C-668C-2681CF7245E9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F62B5E3B-00E4-B2A7-E974-D323B3308DE7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707F6579-9FC3-20C6-3B47-386E9C322075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16D336F0-91D9-31A7-8AB9-24C611D60C34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E340550B-8ABA-10A0-7ECE-7B00168A7570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AF1600C2-AE27-4D4C-5348-C1CAE25D074C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D80A55C6-4F2D-C663-0508-9FA0F3588CA3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F0476B8E-FAF3-657A-DE46-679B2183F84A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0A9F3DC7-A03C-80B9-2CB9-39E8BF46CEFB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8BCC3BE3-1D9A-BB8A-E933-86EDD525E696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66141872-6901-BD71-C17F-7DCB090D107B}"/>
              </a:ext>
            </a:extLst>
          </p:cNvPr>
          <p:cNvSpPr/>
          <p:nvPr/>
        </p:nvSpPr>
        <p:spPr>
          <a:xfrm>
            <a:off x="4265676" y="16649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133069FD-C8D2-F592-081E-A78607FCF651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9991A8C0-9B59-B50A-13A5-3FDF86673BDE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4334B388-22FF-5F2C-DDBC-E2E75B05558A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FE131FC0-B059-ACFD-6818-BAA42B037083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8D4F17B1-287B-3E70-4685-1458E79F19C7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7FD427FA-CBCB-53F8-BA16-DEEC4461F005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92EA46A3-7165-BFC4-EDA6-24C7C08DE11D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C7394E4D-23C1-FEC6-0696-8007867CCC84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0DA38408-99D1-1FE6-C8F8-E969D0D6362F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CE24960D-1B0F-E179-CF22-FF20996F1A98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40A4344A-6F31-8DF1-B432-0B36CF17BE4A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B32090EC-3E38-EAE6-5E51-04AFF3F8BB74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21FF756D-F334-1D78-E89A-9A22739A6592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37A20A41-247C-DEA3-5902-4B711B15C191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63C4C5D4-ECDA-8282-E004-17198CF8DAB3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A05C8D8E-BF55-D965-8432-B80B441B9724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B0D687D3-B752-754D-59DF-C78C1F09F192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F5819415-FDBE-9DE9-7880-58935A9A4765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CE47DB51-E5E4-482C-9E63-3E7E41593131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36190CC2-7CB8-A040-2949-0606E4765EA1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8392A9BE-8803-C2B4-4C2A-C9483DB243BC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FDDC373A-3F5E-B584-E70E-AC770EFCAD82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DA0250EA-ECF8-A3B4-6834-385BFF9C97B6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26266938-5352-F1D2-A98C-10B5D3A1F4A0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7FB6875B-68FD-1C17-EB5E-C1E41FF4A5A9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E43C8E45-51E8-44BA-C34D-810E413654F2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2F88EFAE-B34F-83E8-C272-2A5BF55FD292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717C4FC2-2AE9-81E7-1009-F77E0344FADE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5D50F078-5CCB-1B29-1D18-684BE9374C91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9FCBF219-CE86-9DC3-302F-AADF1D07C413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6B812B1A-F93C-B5B0-7286-E3786B95FE2A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D464301D-B216-7AB1-DA4B-F001871FE4AC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432D18-B285-4C5C-4966-36CB88E7D46C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6084FFA-285B-34ED-2641-AEEEC4A0D6D9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AD25FFD-79D3-EBAF-F9BA-5E654ABB2E28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50344D9-B5F0-9076-CF52-0C65CC9F9BA9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5E8AA18-EF23-CA45-45A4-B52C208459A0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A4FDF68-43D1-837E-5895-0254C92BD7DE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28D63DF-DD59-5BA0-5EFD-4AB74A52EC80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0C9181-2320-4588-8AFE-4CEBBFDFB842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08E6A3-F1DD-C987-EEFE-7E72C1AAAA96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B6F6D9-F7D6-14A2-DCF6-81C4B374ECD1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E7EA2C-FE23-47F5-D653-EE9BD9C00C0D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5F65B0-8016-66D8-2E8C-70925E4B0767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4FCF716-BEDA-F51C-8180-083F0A894AB8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371CF9-1039-2366-636F-FCCE03BBCAA0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assist: Physician reviews and approves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1B54BE-D7C4-2921-61BD-C07BAABA27B1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CDI + Coding Assist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762B754-034D-DA7C-24C2-239F8DED1872}"/>
              </a:ext>
            </a:extLst>
          </p:cNvPr>
          <p:cNvSpPr txBox="1"/>
          <p:nvPr/>
        </p:nvSpPr>
        <p:spPr>
          <a:xfrm>
            <a:off x="8357615" y="3300657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NLP on clinical notes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HCC gap analysis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 drafts to physicians with CDI recommendations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8F0C31-6239-D890-0412-6797CBF6E4D4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notes, problem lists, lab results, imaging reports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9F2C7D-058F-6476-0010-C777D23C8F37}"/>
              </a:ext>
            </a:extLst>
          </p:cNvPr>
          <p:cNvSpPr txBox="1"/>
          <p:nvPr/>
        </p:nvSpPr>
        <p:spPr>
          <a:xfrm>
            <a:off x="4585716" y="480249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Enriched documentation supporting higher-specificity codes and risk-adjusted payment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95523A-C6D3-FA1A-1CED-E64D768D0F60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Case mix index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6D445AE-98A2-CB6A-225D-DD87FC772F50}"/>
              </a:ext>
            </a:extLst>
          </p:cNvPr>
          <p:cNvCxnSpPr>
            <a:cxnSpLocks/>
          </p:cNvCxnSpPr>
          <p:nvPr/>
        </p:nvCxnSpPr>
        <p:spPr>
          <a:xfrm flipV="1">
            <a:off x="8443341" y="51263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D57664B-789E-3719-2E03-24AE2FC62923}"/>
              </a:ext>
            </a:extLst>
          </p:cNvPr>
          <p:cNvCxnSpPr>
            <a:cxnSpLocks/>
          </p:cNvCxnSpPr>
          <p:nvPr/>
        </p:nvCxnSpPr>
        <p:spPr>
          <a:xfrm flipH="1" flipV="1">
            <a:off x="8424291" y="4840620"/>
            <a:ext cx="9525" cy="219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6433558-6A60-562B-E92E-1DAE4CF5E120}"/>
              </a:ext>
            </a:extLst>
          </p:cNvPr>
          <p:cNvSpPr txBox="1"/>
          <p:nvPr/>
        </p:nvSpPr>
        <p:spPr>
          <a:xfrm>
            <a:off x="8477631" y="5078555"/>
            <a:ext cx="2274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HCC capture rate</a:t>
            </a:r>
          </a:p>
        </p:txBody>
      </p:sp>
    </p:spTree>
    <p:extLst>
      <p:ext uri="{BB962C8B-B14F-4D97-AF65-F5344CB8AC3E}">
        <p14:creationId xmlns:p14="http://schemas.microsoft.com/office/powerpoint/2010/main" val="411533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1BC4-3EF6-BCA1-1AF8-87DC685D6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AF0A-FB77-42FD-25BD-40D0C938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E57F4-918B-91E2-B237-BA9145399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CDE2B-D9B6-CE37-8902-C4334A77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BE1DAB-7B66-DB18-2BB5-9115427549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05- Charge Capture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640A018-9947-2B2A-B67F-38594DE4233A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612089CD-BBF5-4C44-2900-98B23C5BD3D7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3160EB4A-4043-99C0-F74B-7B1148C286AC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E298D190-BE88-AFEE-219B-0E13F90136F6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B4601459-7191-8AE8-A6C6-B68238B1A770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9BEA0B95-59EA-666C-2955-FDF9C0C099BC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2833B463-3E65-DC65-3097-8C152F0A191C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67F74CEE-14DE-75F9-0C72-C94A1930F02D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66EFB5BC-1BB3-A3EB-1EE9-B5D2D01EF313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F3197B42-C03F-DE66-74A9-5EB0EDEFCC73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F18FC9F8-A6B2-DABF-B3AC-F3A25D652766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4346351A-A7B8-9102-150D-9767040D8364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AA9A8E87-792A-1275-B4FB-CFF4D51B86BC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158584C1-4254-F1A5-CFC0-506FD300B732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CBC762DF-BFE0-6F4A-C5E0-8637B7B2947B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E9B4E9CD-CC93-7050-4CDF-F0E048EEE6D6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E98C1BDE-34D2-A50F-CD5F-F42952BF6EF8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E0CA4C70-B9E8-D5A1-F347-7540F1C4D56F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A6F88A81-0184-23FD-A291-9F3F0863D9B6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180DDC6D-4CD4-7EF9-1D2B-35D8ADE6B9B6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5B2E4502-D4F7-ACE5-6348-0B5464E1CA58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4192EEF6-3777-C029-383B-D98C977C6F25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E057F7D4-5A5B-1B1C-C1FA-CE70FC8FA110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495B8E1D-EE36-DB34-8980-9240CF8F7182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19B423A0-918B-A51E-3AFD-70EDF077E401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ED6A3955-1C6E-7D0B-EAB0-8D6D89DEF604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FD23B9FB-9512-6762-A480-ADEF6A60391A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363B6905-5532-7FF4-A7A0-358277E2F222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9D6CBEC1-9350-C8C0-364C-8CFAF7C1D544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A95D67AB-C7D6-CDA6-A0ED-42CCE993E145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43E88EE6-0B20-35CC-958E-E588577D7550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ABDD7F9A-B6F7-F914-261E-86DB81E401E4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D8ED2260-0FBB-B891-F9E6-00444E8407FC}"/>
              </a:ext>
            </a:extLst>
          </p:cNvPr>
          <p:cNvSpPr/>
          <p:nvPr/>
        </p:nvSpPr>
        <p:spPr>
          <a:xfrm>
            <a:off x="5522976" y="16649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27F5E044-57DF-D5A1-E491-E5164A6DEA66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AD59E18D-B74D-0287-5C8D-EEDA5F4D5088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E4E14F64-941E-2139-CF23-3A3D01255E66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16C3D0ED-D2CF-3FDA-8248-6ADCF8019F21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24B0B97C-2790-D8C6-673C-10E102179377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DADA4938-0841-7D9B-8CB0-07BE6A67D3D6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EE36E914-54C3-DA2E-E82D-06AB0BA2464D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15BBC078-2CDC-748C-3281-CB3F3F7E1057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39E3495F-5328-1BEC-7EB9-4DEA9F557EDC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5667C7CC-2AC3-D553-1B86-4E1E192A05D5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62C71B40-5185-9C87-B5CB-8BA28CA364E7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2A5C89B8-8009-FABF-B4F8-08979FD89747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BCA383FE-96D4-2E3A-FBBD-671E3C010037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D959C276-F4B0-95CA-79BC-B5520528A74C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C3717188-8D44-7D7E-BEA5-581CC11E6C50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17FEFA6A-1CBE-C757-094A-BFC571BC926F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2CC81886-08CF-8D1D-3C56-230C1BFC6A1D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2BC1FC2D-BA79-EE15-7742-65E3854D7876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7E833CB0-0703-3D53-504D-DB8B62B5798C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1BFE1DD2-680C-B79F-AB9C-FB45F2537D7C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01944A97-3E6B-F749-F304-FADB07D44050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AB84D0CB-DCB6-8D9E-A866-571D48E1D2EC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715C7CE3-D29D-84E6-21E9-5F77B0BD3390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928F0827-9C22-2119-4DA8-8738DAD278FA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65A2A54A-2C12-BFA5-42AB-65323B700B85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614AC5F3-AD26-5C0E-6763-18250E0DEC62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8C2700-4B53-2947-E5FD-9FBCDFB3F698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0872CCF-5600-F3C3-2608-C4C69DF00574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D841881-61B0-0E1E-42D1-9ADD07633A80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6CCD71D-9806-3DA5-812E-BB6EDD64AACD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6E1A5E9-9C48-AD84-78CC-612E10211965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EF47028-E996-5D11-0E46-7FE10394CBF6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14EACCE-95F7-9463-B1D7-A0FFA0E282ED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CD9D71-C695-B165-A2F7-4EF706FE13FA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9B27EF-CB6E-8D1A-5B26-EF2606D6E193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CFFF40-FFB3-44CD-52A4-C5C6D4DBDDC9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8BE360-EC38-8F38-2D8F-74FB729C97F9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73FAEB6-0864-C1FF-F9DF-AB017C2117CD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EDFF9B-7F4C-0D6F-6A06-B48A5E90108E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625EBC-F461-58A5-F4EE-6FAB32610793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Fully autonomous monitoring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F0E2898-B0C3-966D-50EF-289A530C411B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Charge Capture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194E9A-4283-93C2-8540-5028043B691D}"/>
              </a:ext>
            </a:extLst>
          </p:cNvPr>
          <p:cNvSpPr txBox="1"/>
          <p:nvPr/>
        </p:nvSpPr>
        <p:spPr>
          <a:xfrm>
            <a:off x="8357614" y="3280733"/>
            <a:ext cx="3174493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Orders-to-charges reconciliation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Missed charge detection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Flags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undercoding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98E257-F524-E525-D035-21372EA6EAC3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Order history, procedure records, anesthesia records, supply charges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A5C5BC6-3A2A-AF4A-03BC-E3DE74067DD1}"/>
              </a:ext>
            </a:extLst>
          </p:cNvPr>
          <p:cNvSpPr txBox="1"/>
          <p:nvPr/>
        </p:nvSpPr>
        <p:spPr>
          <a:xfrm>
            <a:off x="4589145" y="487011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Charge reconciliation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Missing charges auto posted or queued for coder review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B6C453-CBF3-3CEC-7151-A0A43EB0EDC0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Net revenue uplift per encounter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5406E0F-B42B-8BB8-2692-9BEFEE0AF8EF}"/>
              </a:ext>
            </a:extLst>
          </p:cNvPr>
          <p:cNvCxnSpPr>
            <a:cxnSpLocks/>
          </p:cNvCxnSpPr>
          <p:nvPr/>
        </p:nvCxnSpPr>
        <p:spPr>
          <a:xfrm>
            <a:off x="8424291" y="5095875"/>
            <a:ext cx="0" cy="257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ED3D1AE-7E20-89E5-91DD-C28CF70C3E44}"/>
              </a:ext>
            </a:extLst>
          </p:cNvPr>
          <p:cNvCxnSpPr>
            <a:cxnSpLocks/>
          </p:cNvCxnSpPr>
          <p:nvPr/>
        </p:nvCxnSpPr>
        <p:spPr>
          <a:xfrm flipV="1">
            <a:off x="8424291" y="483108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E15669B-C2B0-DDFE-DEDE-1426F83E2C8D}"/>
              </a:ext>
            </a:extLst>
          </p:cNvPr>
          <p:cNvSpPr txBox="1"/>
          <p:nvPr/>
        </p:nvSpPr>
        <p:spPr>
          <a:xfrm>
            <a:off x="8515350" y="5059382"/>
            <a:ext cx="2274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Reduction in charge lag</a:t>
            </a:r>
          </a:p>
        </p:txBody>
      </p:sp>
    </p:spTree>
    <p:extLst>
      <p:ext uri="{BB962C8B-B14F-4D97-AF65-F5344CB8AC3E}">
        <p14:creationId xmlns:p14="http://schemas.microsoft.com/office/powerpoint/2010/main" val="209761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4D6E-28DA-790B-66D2-F8E25C17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90AB-8583-D6DC-95D5-04969543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571B8-B950-6C5E-60CE-05803D131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6F55E-D423-880E-9FBF-0447A45DE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3F6E3A-CF95-27FA-18CC-D2AC8237A5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06- Coding &amp; Billing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CCEB6C9-5873-4034-203F-78C78B858AB0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648CA28A-5645-281B-56AD-39FECBF37987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DB647D1C-8404-641A-53F7-3A6EC4ABAB35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465601BE-2D9C-F35A-3C96-4A20BAE84743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AF1A2F72-9A9A-B014-0AD3-BFB2E6C14F68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313EFB2B-141D-7E4A-AD15-E61FA9BE3859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81329575-3669-EC9C-4825-2B1FB6A2D349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81D16C80-80B0-3CDF-BBD8-5760C1386A88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D254FE43-9042-0CA1-73EB-A573F3C90EE2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EB789276-CB7B-2CB9-FB62-EE3B88161728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A130557E-B1ED-4D64-305E-811A342C4856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D495B8F7-FC74-99BE-AB43-D453A067F958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08D85FA2-6D2B-2638-60E2-5A7C48314923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597726F8-53D3-9EF2-9475-72D948B84FE1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19D804AF-879C-7A20-50AF-66124A88B6CA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1FE0BFC6-9422-A55E-4D14-7D496F981D47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416F5989-EFAB-6711-0112-D39606139B9A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502539EB-1C03-8C4C-FB2B-8E98F1EF3221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898EF134-B1C8-1629-8A23-97BF444139CD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C9C30CD2-DEA9-A4F4-3C66-60629374EE1F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2DEFC0C7-3106-3C67-1213-268DC942CA24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AB3987C2-69D6-EB61-3260-72C21003F652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383F6201-E235-32D9-CAE9-8AFF609A6FDA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AB3C259B-447C-EE68-F254-D8A7DFAE47D3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42AB28A7-2F2A-BB87-BFE5-9BA3C59E9C85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7C6A9918-3C5A-562B-4FC4-0ADD5AE6CB60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B0EBB748-DED1-7B2B-4EBC-C86A40081F52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A66D17D7-6D5B-A608-58A1-43DFAFE3D417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8BC61C45-6B1F-990B-4CE1-285C2B2F813C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F4E45CED-D170-7302-DAB7-F6607890D008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D2B29840-4927-0ACA-C534-54689001DC9A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7678B47C-187F-D185-ADEB-E1F9737ADE6F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F6E436DE-7DB2-9B30-8A62-51B7AD358FC2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B9C13C00-EAA5-E96D-6915-37FA34611C0F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7169CA0D-9EC9-88C2-8735-50B3D8336C8B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20F83EF3-BEF2-2498-FC3F-B2EC87671E1E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0FF88B50-864C-FA67-30A1-F0FB7A93F48C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B2466DA0-C3A3-B819-D025-8EC732115019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587B4345-596F-6511-D5BE-74EDEB2D5135}"/>
              </a:ext>
            </a:extLst>
          </p:cNvPr>
          <p:cNvSpPr/>
          <p:nvPr/>
        </p:nvSpPr>
        <p:spPr>
          <a:xfrm>
            <a:off x="67802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92DE288E-514C-017F-F5C5-4ADAE940D460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71212FCB-13E7-6F69-63C5-BEA81B12C749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C5284B19-E1BA-2564-E375-CC9F4595E729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B0006D52-2D74-1617-8612-CBB3DB296131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267A3D18-F967-8727-C950-B4E43EDB122F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579C895B-D109-5A94-6115-95469CE96CC7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694E8418-A1B3-FB0E-722A-FE38BEEFD3B7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3ECBA216-84E4-F7A6-456F-A15FCDAD19ED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9021B69E-F921-B7B2-C9F2-D4D0C72C362F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6AF67B6C-2CFC-7ADE-C003-26FCA1015042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56CFDDB3-D1B2-D70D-CA6F-9A3552A54D4F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44B1E832-320D-F902-4934-E73435B1604E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F435BD5D-E925-DFEB-5FAF-CDC1D2905ABB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9C60F1E6-C711-20D5-BC7C-C07999470A18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4C59161B-34AD-3B71-9CC7-843391453C66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AD6370F5-683B-AE09-4A48-0C50F2D017D8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7DC882BD-C5BD-C1FB-A1C2-FC049885A46C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8265BF0F-9563-FEF6-0857-D8F9FAB09E4B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7EC59DE6-2319-CFD0-8322-F0FB36A21344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22D10E3E-1197-5AFB-7B06-C66AA27DCE87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5D780F5-A7AB-0719-EFBF-306C0BC09324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954C8FA-08DD-2DD3-3E55-DBFDB9716195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DEF91AF-7650-B2DC-77FF-DEDCD475AD01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DAF4911-C63D-5766-69F5-3573D6974544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5282956-BD5D-5FD1-DB8B-7B5085C36662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AC9A9F7B-FC62-0055-0B6D-BF462F847D7B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1E2EF0D-A09C-AE5A-440B-89BAC346A0C4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6F6553-4F2C-21AB-DF27-A170EFAF336B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BE6179-7E4C-19D0-8898-6E2DD84EE8EA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925D6E-EA5C-5198-1746-BC3E5BD05297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126E1F-E938-AB4D-21AF-8B45AC29204C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957DE7-1A46-53FC-40A2-35B8F456B8AE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2A138D-48C4-FCC6-75FF-C6998AF0190C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3A4D9F-E02C-83AC-D1FB-58F7FF92D73D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AI-assist with coder review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3E6839F-8762-F381-6728-DE8019D1E606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Coding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6B8048-EDF0-D5C2-4371-2373CB5D0C32}"/>
              </a:ext>
            </a:extLst>
          </p:cNvPr>
          <p:cNvSpPr txBox="1"/>
          <p:nvPr/>
        </p:nvSpPr>
        <p:spPr>
          <a:xfrm>
            <a:off x="8357615" y="3261223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NLP note abstraction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ICD/CPT/DRG/Modifier suggestions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HCC gap flagging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E&amp;M level selection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NCCI edit checks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95D1BB1-3B98-E6B2-4ED2-8A9BBC40FFD8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notes, operative reports, discharge summaries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3E7C8C-8047-672B-A5D5-2740B3E042AC}"/>
              </a:ext>
            </a:extLst>
          </p:cNvPr>
          <p:cNvSpPr txBox="1"/>
          <p:nvPr/>
        </p:nvSpPr>
        <p:spPr>
          <a:xfrm>
            <a:off x="4589145" y="487011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Coding recommendations pushed to coder work queues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0D0B9E-4209-79C1-F22E-FC5DD321BAF3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Reduction in coding denials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B5A57BD-BC75-FD28-4565-003F46BFD9A1}"/>
              </a:ext>
            </a:extLst>
          </p:cNvPr>
          <p:cNvCxnSpPr>
            <a:cxnSpLocks/>
          </p:cNvCxnSpPr>
          <p:nvPr/>
        </p:nvCxnSpPr>
        <p:spPr>
          <a:xfrm flipV="1">
            <a:off x="8433816" y="50882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F3ACCAF-5D01-C9CE-D348-204919B8DC8B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9251968-40DE-2B8A-D73F-CE4FA09BBE03}"/>
              </a:ext>
            </a:extLst>
          </p:cNvPr>
          <p:cNvSpPr txBox="1"/>
          <p:nvPr/>
        </p:nvSpPr>
        <p:spPr>
          <a:xfrm>
            <a:off x="8477631" y="5051369"/>
            <a:ext cx="2274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throughput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8B0CEB-E34F-C068-3816-78573FC9F630}"/>
              </a:ext>
            </a:extLst>
          </p:cNvPr>
          <p:cNvSpPr txBox="1"/>
          <p:nvPr/>
        </p:nvSpPr>
        <p:spPr>
          <a:xfrm>
            <a:off x="8485251" y="5332166"/>
            <a:ext cx="3062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first pass coding accuracy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61909CE-9E34-512B-BF76-858B6593483E}"/>
              </a:ext>
            </a:extLst>
          </p:cNvPr>
          <p:cNvCxnSpPr>
            <a:cxnSpLocks/>
          </p:cNvCxnSpPr>
          <p:nvPr/>
        </p:nvCxnSpPr>
        <p:spPr>
          <a:xfrm flipV="1">
            <a:off x="8433816" y="537400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29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5745-DD4A-67C3-E7C1-30C50D02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5BAB-DD2E-FDF4-8CBA-490A39B7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9CC23-E940-A972-9096-2DCD09B6C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6AA6-30B3-9728-93A8-8C524C681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986066-258D-9376-91EC-B2BFDCC9CE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07- Claims Submission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A3FB216-E3EE-BDC7-5E7B-52B909D6F09A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4FF3CD49-D0F4-8C5D-BEA8-4274905FFBAA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5B4C0AD7-837E-F236-1191-B97A8E1B6B5A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EB7B858E-7CCD-049B-A45D-CEB05F154A06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50D37F61-7407-B30A-1AB5-D2F63AAF286B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387EBCC7-6260-92EE-DA73-1BEC012F9E05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7C2CE7E2-2B87-83F0-06AA-2C4B047A3E03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4B54E969-2264-E199-832A-ABA6630B8B83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B12A239D-AF74-27E5-81CA-4A7397AC63F6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E9D8F760-654D-1814-9594-ADA2DCECCE37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9B70B95A-7633-3775-C87D-8BEE21B0E78D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A5288B80-4826-1B7A-7BBE-8807EE14900C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11F4EBBB-F147-2007-49D8-8741F4ABB49C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7C0BC44C-863C-CF38-4E4C-E05368EA775C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CD9EF687-2C8A-5C36-FFDB-1C4A23164F5E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AC89C08E-1DE9-116F-C410-80C4A1212053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B9CB76FF-C7DA-1BB5-6FFD-44A7D40D1177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96C85036-F170-3FA2-C852-AB42312F2B19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D2EE9474-80E0-2E71-9AA1-B20B24572740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3CEFF693-0BC3-39A9-BC3D-50C20DB51F3B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E7775771-D147-9F19-CC85-EEBF01E0FB4E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8DD1DA7D-A8B0-642A-5332-8FFAB09BBE53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C46D63A9-9E0B-CBE9-7D2A-C23025FE5A8A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59BB9CD5-D3D6-7B3B-8714-921A6F1AB6A0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0561E5BF-3194-E821-E00C-67F28A28BF84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0FB13ADC-A0B8-4E2B-81D9-9D02F882787B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FB2A4F3A-94F8-8101-8019-DDFE2CF8884F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7916C08B-BE8A-6C03-F047-923BE620F741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CB8A51B1-EA1F-BA21-0215-69664194C670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07AD8297-37D7-FB25-66D7-DE2A09E094AA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1C494E7D-61F2-D730-3595-9E36ACAE681F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1CDF77E4-8172-A9A7-DAC8-341E86052568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1EDA6806-2BCD-7A99-F720-587E07D7EAC0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45ACF380-F623-DA6C-E287-CE1456EEA6B4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BD9891F8-55BF-231F-DF0A-6D8E2273F41C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6F74CC3F-E5D5-6485-7E50-4EE4CEDFF156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77DB8DBA-6DC2-5491-580D-46866D4E8309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3B7CD5C6-ACDB-23AF-7662-87572CD3D0B8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E0565D09-A348-290C-67ED-3B965072C4EC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DE75136C-916F-1094-68D3-3F597106791B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66DA2F0B-9192-5816-2D1D-62845AC8128E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F98B767E-4891-D5A3-70D8-B4D52B49B638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AF157B35-8B9D-9F6F-D24B-0D2DA15BB369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C233EEE0-72F3-06F3-120F-80393EDBFC67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49AFCC12-7567-AF74-40D5-7A07BF89F70D}"/>
              </a:ext>
            </a:extLst>
          </p:cNvPr>
          <p:cNvSpPr/>
          <p:nvPr/>
        </p:nvSpPr>
        <p:spPr>
          <a:xfrm>
            <a:off x="80375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E5C483F5-0A21-917C-6616-730FA0111AD8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29C10AEC-9E91-2BBF-EDAE-F2A7B99B8736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A753D88E-B7FA-8584-AEC3-13C68FB56F00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D95EDD5D-F985-C69F-44E3-50F7EBA89347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4BE209DC-574A-2EC0-6FF4-966A73BB3E1D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5C90B38F-547A-FC6A-B7CA-B4D6B0B8F9C4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C88554D5-65DD-43F1-F8CC-437B45892458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908DC5C3-1574-960E-38BD-2E942AC0662F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7DEB1982-7C94-0DDA-E1CF-715BEAA35DD3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C8DCDB82-1121-09F7-A481-A60A82912437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7433303D-CAFD-7C47-2DA8-308B9FF15A48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4D7EC870-C701-97F6-ED15-656944A15312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F256AE75-9323-3D94-9C1D-C614EF115B66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BE7F7242-3DCB-B622-2DC1-340562BBAB0E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3ADC15-AE0F-3D1B-8444-16BE8FBF53D4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9951CC3-ADAD-4CEB-B481-D4B99BDA54F4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3082D4B-3489-2348-BE06-C66EEC8AA433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3BC460C-306D-1A3A-B425-82B0F5B80894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533D14D-9E2A-E203-EC93-81F49909807B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6FCD174-17A5-5D76-B0CB-A8C229F13EAE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05D701A-2B1C-C826-D5E1-8D9D2ADB584F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8C8104-907B-DE16-1262-E7ECDE94357B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83616B-D6E1-F5A7-46B7-BD28BABDCE09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1ED228-CEC2-D480-0660-A29C35D3ABB5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259AC80-479B-25A4-E277-9109F78C56CF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C95DF8-58C2-1675-1751-33BA2045C020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E473D2E-0A95-BD35-1F1C-C4ED429EA897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22AA8B-44FA-7E9E-8449-D28D1943B22D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Fully Autonomous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5BF609-110A-070A-4E04-002EA3364541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Claims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09610E-9CD4-8A6F-F4D8-A929A2C4FC31}"/>
              </a:ext>
            </a:extLst>
          </p:cNvPr>
          <p:cNvSpPr txBox="1"/>
          <p:nvPr/>
        </p:nvSpPr>
        <p:spPr>
          <a:xfrm>
            <a:off x="8357615" y="3300657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837P/I creation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Claim scrubbing with payer rules &amp; edits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Clearinghouse routing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Real-time rejection handling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357C1F-7F46-C8CA-6D01-A8881FB36EDB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Coded encounters, patient insurance, facility NPI, provider taxonomy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4EDBEC-ED5E-11A6-3212-955221664BA9}"/>
              </a:ext>
            </a:extLst>
          </p:cNvPr>
          <p:cNvSpPr txBox="1"/>
          <p:nvPr/>
        </p:nvSpPr>
        <p:spPr>
          <a:xfrm>
            <a:off x="4589145" y="487011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EDI 837, clean claim transmission, 999/277 ACK tracked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145199-8957-9D8A-9830-028754CEB488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Reduction in days to submit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F8C82E2-86F7-00E7-341E-4D7493A01B61}"/>
              </a:ext>
            </a:extLst>
          </p:cNvPr>
          <p:cNvCxnSpPr>
            <a:cxnSpLocks/>
          </p:cNvCxnSpPr>
          <p:nvPr/>
        </p:nvCxnSpPr>
        <p:spPr>
          <a:xfrm flipV="1">
            <a:off x="8433816" y="50882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FD55E1F-258C-F825-96ED-35FEED9E14F7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1D037A9-5BE5-29E8-ED50-6759E706863A}"/>
              </a:ext>
            </a:extLst>
          </p:cNvPr>
          <p:cNvSpPr txBox="1"/>
          <p:nvPr/>
        </p:nvSpPr>
        <p:spPr>
          <a:xfrm>
            <a:off x="8477631" y="5021297"/>
            <a:ext cx="22745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clean claim rate</a:t>
            </a:r>
          </a:p>
        </p:txBody>
      </p:sp>
    </p:spTree>
    <p:extLst>
      <p:ext uri="{BB962C8B-B14F-4D97-AF65-F5344CB8AC3E}">
        <p14:creationId xmlns:p14="http://schemas.microsoft.com/office/powerpoint/2010/main" val="1653137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A7C4-2714-B393-9F84-5508B489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232D-4C60-E808-F1EB-C53ABA78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B4607-1B15-2C25-032C-539A5D293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2A41E-271B-3551-57DB-AC67713B6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E4F4F4-779E-0DD8-3226-0763E709E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08- Denial Management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741914-CC1B-1979-B8EC-92E16CB7725E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21808771-C484-4E49-6E2A-5D2DA7417C54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8C2F9E7B-38CD-C611-E58C-435761883A4C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83115503-3399-A370-13EF-BC1401E06B68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AF1378B9-053D-8C21-9CC5-A8609B5ECFA1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9C74F351-D6AB-6F43-1260-D06213A8D717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5BBDBAD6-F015-5751-FF79-70BCC29DFFFE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3ECF5811-AF97-B089-4414-82D377011E35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14D33D07-AB6C-2646-A90D-101D7CAE9268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94BC3C4A-D54F-0B53-251C-D949380D88E6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688B2376-78BC-A44A-EC50-D9CC753AD286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25D57507-E1EA-A859-9E4D-74D8F0D48CC9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85410333-93A6-DF9A-39DC-D63AFC8AA417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EC988AB9-42B1-31A0-1CE9-995A248BCF1E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79809176-497C-2583-5B0E-FBD3BB42D4EA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3A265C0A-8D69-861E-F08F-5C067F144E53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2DBD27AC-FC74-E535-AC4D-BBCD7F175269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D4DEFEC8-9EDC-9154-9979-2B4966291C98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13E97996-E592-69A3-2663-2EDC5B2095FA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B5792826-3322-D4C2-7FA5-36774BA9D705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F701C98F-0099-FECD-9B97-B8EC3278EC78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5F6C1142-0213-69C9-1A2D-3E200FEA982B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2BD35431-32D4-205D-1EB0-1124782DCCD9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A0793BF1-501D-A129-4B08-F5DA5ABDD4E0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EB5CD563-3649-E463-46BB-59962016E264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FCAEC28B-B5C8-99DD-3A40-E7ADABB55BB1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1A8DDC7A-AB1A-422A-F859-1AAA713C05B2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4AE96E78-F76B-EF2E-EB34-9404B22CDF06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C3E003F5-D860-ECD1-CFE3-4C50634AC664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C0FDF95C-8A2A-17AB-06D7-7595506883D8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537ECC76-6E06-5F00-6164-5EF0930C35FE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A85A96D8-1B12-B3BF-7C37-395A741E927C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02AFD5F5-8E3B-42C2-6763-74D7C699648A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8F4CCD61-18B0-63C8-240C-E1AB3E34B33F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6FE36635-CD57-0CA0-5A3F-5B727CFF1131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C62E9A7E-1EC8-9C29-3794-0541155BD779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778C9D0F-EC7A-13D9-9686-DD1990E78D51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BD44AD0C-18E6-CEDE-8298-2B9C7CE0D5B2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BC5A4372-6BF5-C274-4C40-B21ABCB4DEDD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1409A420-5734-6F62-126E-DBC9B2D58B07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561BF295-6A76-1DE4-826A-850BD829F68F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0EC94356-6112-CF83-B923-BC8C7016F9DD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A69D8F16-4201-A1CC-C184-4F8A92A93176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5F9A8E68-F06A-3D55-CC2B-7AFE7AAC4F6F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4E3A6729-8796-B4EE-3A8C-CE6495910AE5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13F78014-AEE9-1E16-D52B-97ECED6671FA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3B4D933B-8D67-5B9F-DBDB-E7F28AF86FB7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EBFB27B3-15BF-80FB-5A60-02C5063D8F55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5C8A8FC9-2626-3D0F-6D20-3DDA6F55C3B6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29DD1B18-C1E7-3A30-F603-5CD0CA0F1317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2980EF4F-37F4-400F-F35C-D7D0E9D3FA78}"/>
              </a:ext>
            </a:extLst>
          </p:cNvPr>
          <p:cNvSpPr/>
          <p:nvPr/>
        </p:nvSpPr>
        <p:spPr>
          <a:xfrm>
            <a:off x="9294876" y="16649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511A0AFD-30BF-7D20-D23B-138E60D70ABB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F044D1A8-14C0-5244-DA2A-E30680EC8463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1555B2E0-4A1E-423A-C2C0-E94610F44AB5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0A7B8CC3-BA80-A268-4942-DD081445C1D8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36DF0454-BFF5-288F-F781-2281EB8BBA64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AC2B542F-1FC7-545A-DF1E-1DFE2DB46C25}"/>
              </a:ext>
            </a:extLst>
          </p:cNvPr>
          <p:cNvSpPr/>
          <p:nvPr/>
        </p:nvSpPr>
        <p:spPr>
          <a:xfrm>
            <a:off x="105521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00FBE21C-765F-52F7-7D8E-7AF8F19FC894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1EA0FD7E-30DE-16B6-32B5-DA0ED0FC7A5E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B56F8B3-5A15-F642-953B-82F93C361A2A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7CB6AF6-19BB-8196-AF7B-46159D596D94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845BA0C-464D-40F5-B97D-792CC07B3F17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BBE5B8D-2787-86E2-6057-EFF7BD832E19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2747145-877D-B5F3-76B0-232D95AFC307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E15B0AA-C505-8ADA-22F7-573A1588FACB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2AFD71B-60FB-09D6-2873-695481FCDE1D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C5259F-7C18-F289-E7C9-7CC7440F39D3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937D99-27AE-0C90-9E62-7038E5F48414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93ABC7-B3AB-B3BC-B8B4-6C8476EBA5EB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1FCB44-0747-8BEE-33A0-82CE3424849C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9E5735-577C-5D47-C508-57411B7EF1A9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556FEC-E107-EE79-1E46-B4D1D5784528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EE3240-E955-0EAD-A2D9-620A95468600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triage + human appeal approval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1F3881-B99C-B81A-C766-62AD3041A390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Denial Management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4FAAFB-417D-B7A4-8D70-FD82216E6CFD}"/>
              </a:ext>
            </a:extLst>
          </p:cNvPr>
          <p:cNvSpPr txBox="1"/>
          <p:nvPr/>
        </p:nvSpPr>
        <p:spPr>
          <a:xfrm>
            <a:off x="8372284" y="3238976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CARC/RARC root cause tagging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vs administrative classification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Appeal letter generation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Payer specific appeal strategy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Prevention feedback loop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4FCB33-8745-CA27-BAD8-C7A16BCC9BDA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Original claim (837P/I), EOB (835), Clinical records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E503C9-1E84-E2C2-B882-FA95AF03D008}"/>
              </a:ext>
            </a:extLst>
          </p:cNvPr>
          <p:cNvSpPr txBox="1"/>
          <p:nvPr/>
        </p:nvSpPr>
        <p:spPr>
          <a:xfrm>
            <a:off x="4589145" y="477486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Prioritized work queue, AI drafted appeals, high-overturn probability appeals auto-filed, root cause fed back to prevention rules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A0082A6-C44C-EA69-1911-687779CE53A1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Reduction in denial rate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0C1FAA1-39FF-25D4-EC92-101473FCD9CE}"/>
              </a:ext>
            </a:extLst>
          </p:cNvPr>
          <p:cNvCxnSpPr>
            <a:cxnSpLocks/>
          </p:cNvCxnSpPr>
          <p:nvPr/>
        </p:nvCxnSpPr>
        <p:spPr>
          <a:xfrm flipV="1">
            <a:off x="8433816" y="50882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15FA55A-1642-0114-CF24-AB96B857FA40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99D5565-9252-6785-375F-532806BF49CC}"/>
              </a:ext>
            </a:extLst>
          </p:cNvPr>
          <p:cNvSpPr txBox="1"/>
          <p:nvPr/>
        </p:nvSpPr>
        <p:spPr>
          <a:xfrm>
            <a:off x="8477631" y="5051369"/>
            <a:ext cx="2752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denial overturn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6DB46-FF9E-3F4C-F1DD-40D912630CDB}"/>
              </a:ext>
            </a:extLst>
          </p:cNvPr>
          <p:cNvSpPr txBox="1"/>
          <p:nvPr/>
        </p:nvSpPr>
        <p:spPr>
          <a:xfrm>
            <a:off x="8477630" y="5327594"/>
            <a:ext cx="32266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Reduction in appeal cost per claim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6642CDC-AFF9-AEDD-10EA-4048B2FBD483}"/>
              </a:ext>
            </a:extLst>
          </p:cNvPr>
          <p:cNvCxnSpPr>
            <a:cxnSpLocks/>
          </p:cNvCxnSpPr>
          <p:nvPr/>
        </p:nvCxnSpPr>
        <p:spPr>
          <a:xfrm>
            <a:off x="8433816" y="537210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87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B8F03-4206-B7F6-D962-19C23FEB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6200-77CD-01B4-9373-1C88498E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31672"/>
            <a:ext cx="11449050" cy="332399"/>
          </a:xfrm>
        </p:spPr>
        <p:txBody>
          <a:bodyPr/>
          <a:lstStyle/>
          <a:p>
            <a:r>
              <a:rPr lang="en-US" dirty="0"/>
              <a:t>AI Led RCM Operating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C11D5-5706-51C9-7DC4-77DBD7FF8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NTT DATA, Inc.                  Sensitivity Level: CONFIDENTIAL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33611-6BCC-54FD-D1E1-9974711ED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CE6DAF-806F-404B-BC68-339BFCB57E5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B6B6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7A7D22-535A-7974-5F79-1EB4E8A6EA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 09- Payment &amp; Collections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9AA6981-854D-E973-ABE6-1A63390F6F83}"/>
              </a:ext>
            </a:extLst>
          </p:cNvPr>
          <p:cNvSpPr/>
          <p:nvPr/>
        </p:nvSpPr>
        <p:spPr>
          <a:xfrm>
            <a:off x="0" y="1818894"/>
            <a:ext cx="121615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hape 90">
            <a:extLst>
              <a:ext uri="{FF2B5EF4-FFF2-40B4-BE49-F238E27FC236}">
                <a16:creationId xmlns:a16="http://schemas.microsoft.com/office/drawing/2014/main" id="{9C577CCC-3313-5D63-D8C0-F0D2CDD21C60}"/>
              </a:ext>
            </a:extLst>
          </p:cNvPr>
          <p:cNvSpPr/>
          <p:nvPr/>
        </p:nvSpPr>
        <p:spPr>
          <a:xfrm>
            <a:off x="182880" y="1233678"/>
            <a:ext cx="11795760" cy="987552"/>
          </a:xfrm>
          <a:prstGeom prst="rect">
            <a:avLst/>
          </a:prstGeom>
          <a:solidFill>
            <a:srgbClr val="0A1628"/>
          </a:solidFill>
          <a:ln w="10160">
            <a:solidFill>
              <a:srgbClr val="3A8AE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91">
            <a:extLst>
              <a:ext uri="{FF2B5EF4-FFF2-40B4-BE49-F238E27FC236}">
                <a16:creationId xmlns:a16="http://schemas.microsoft.com/office/drawing/2014/main" id="{8B7F6831-C193-2523-8B79-A11BF85CAE13}"/>
              </a:ext>
            </a:extLst>
          </p:cNvPr>
          <p:cNvSpPr/>
          <p:nvPr/>
        </p:nvSpPr>
        <p:spPr>
          <a:xfrm>
            <a:off x="182880" y="1233678"/>
            <a:ext cx="64008" cy="987552"/>
          </a:xfrm>
          <a:prstGeom prst="rect">
            <a:avLst/>
          </a:prstGeom>
          <a:solidFill>
            <a:srgbClr val="3A8AE0"/>
          </a:solidFill>
          <a:ln w="1270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92">
            <a:extLst>
              <a:ext uri="{FF2B5EF4-FFF2-40B4-BE49-F238E27FC236}">
                <a16:creationId xmlns:a16="http://schemas.microsoft.com/office/drawing/2014/main" id="{49D6AF7C-2C62-1D61-1788-C3143F691E01}"/>
              </a:ext>
            </a:extLst>
          </p:cNvPr>
          <p:cNvSpPr/>
          <p:nvPr/>
        </p:nvSpPr>
        <p:spPr>
          <a:xfrm>
            <a:off x="347472" y="128854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40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RCM WORKFLOW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93">
            <a:extLst>
              <a:ext uri="{FF2B5EF4-FFF2-40B4-BE49-F238E27FC236}">
                <a16:creationId xmlns:a16="http://schemas.microsoft.com/office/drawing/2014/main" id="{FB937CCD-0D93-0BD1-1F47-ACBE9F5A3D9C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solidFill>
            <a:srgbClr val="3A8AE0">
              <a:alpha val="18000"/>
            </a:srgbClr>
          </a:solidFill>
          <a:ln w="7620">
            <a:solidFill>
              <a:srgbClr val="3A8A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94">
            <a:extLst>
              <a:ext uri="{FF2B5EF4-FFF2-40B4-BE49-F238E27FC236}">
                <a16:creationId xmlns:a16="http://schemas.microsoft.com/office/drawing/2014/main" id="{1940CA32-18A2-051F-FCC8-BB51CC84E7B5}"/>
              </a:ext>
            </a:extLst>
          </p:cNvPr>
          <p:cNvSpPr/>
          <p:nvPr/>
        </p:nvSpPr>
        <p:spPr>
          <a:xfrm>
            <a:off x="10789920" y="127025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A8AE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STAGES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95">
            <a:extLst>
              <a:ext uri="{FF2B5EF4-FFF2-40B4-BE49-F238E27FC236}">
                <a16:creationId xmlns:a16="http://schemas.microsoft.com/office/drawing/2014/main" id="{E47F298A-285C-9B56-2927-42C17A50FD50}"/>
              </a:ext>
            </a:extLst>
          </p:cNvPr>
          <p:cNvSpPr/>
          <p:nvPr/>
        </p:nvSpPr>
        <p:spPr>
          <a:xfrm>
            <a:off x="4572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96">
            <a:extLst>
              <a:ext uri="{FF2B5EF4-FFF2-40B4-BE49-F238E27FC236}">
                <a16:creationId xmlns:a16="http://schemas.microsoft.com/office/drawing/2014/main" id="{31F8A147-1813-E8C3-E37E-60FF0AFEA29A}"/>
              </a:ext>
            </a:extLst>
          </p:cNvPr>
          <p:cNvSpPr/>
          <p:nvPr/>
        </p:nvSpPr>
        <p:spPr>
          <a:xfrm>
            <a:off x="4572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A6A05800-25CA-59E4-BC57-8BC800967CCF}"/>
              </a:ext>
            </a:extLst>
          </p:cNvPr>
          <p:cNvSpPr/>
          <p:nvPr/>
        </p:nvSpPr>
        <p:spPr>
          <a:xfrm>
            <a:off x="493776" y="166344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70F26">
                    <a:lumMod val="10000"/>
                    <a:lumOff val="9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70F26">
                  <a:lumMod val="10000"/>
                  <a:lumOff val="9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Shape 98">
            <a:extLst>
              <a:ext uri="{FF2B5EF4-FFF2-40B4-BE49-F238E27FC236}">
                <a16:creationId xmlns:a16="http://schemas.microsoft.com/office/drawing/2014/main" id="{2E67D950-ABD1-DD7E-A22B-06738396FBA3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99">
            <a:extLst>
              <a:ext uri="{FF2B5EF4-FFF2-40B4-BE49-F238E27FC236}">
                <a16:creationId xmlns:a16="http://schemas.microsoft.com/office/drawing/2014/main" id="{DA1FF308-CF54-8E7A-D781-A3F23EB1A578}"/>
              </a:ext>
            </a:extLst>
          </p:cNvPr>
          <p:cNvSpPr/>
          <p:nvPr/>
        </p:nvSpPr>
        <p:spPr>
          <a:xfrm>
            <a:off x="8138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100">
            <a:extLst>
              <a:ext uri="{FF2B5EF4-FFF2-40B4-BE49-F238E27FC236}">
                <a16:creationId xmlns:a16="http://schemas.microsoft.com/office/drawing/2014/main" id="{BE6B3C63-CCC5-B3FA-2A14-1572731E8F5E}"/>
              </a:ext>
            </a:extLst>
          </p:cNvPr>
          <p:cNvSpPr/>
          <p:nvPr/>
        </p:nvSpPr>
        <p:spPr>
          <a:xfrm>
            <a:off x="16504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Shape 101">
            <a:extLst>
              <a:ext uri="{FF2B5EF4-FFF2-40B4-BE49-F238E27FC236}">
                <a16:creationId xmlns:a16="http://schemas.microsoft.com/office/drawing/2014/main" id="{5B7EC83D-C9F0-4136-89DF-4F38641F1A77}"/>
              </a:ext>
            </a:extLst>
          </p:cNvPr>
          <p:cNvSpPr/>
          <p:nvPr/>
        </p:nvSpPr>
        <p:spPr>
          <a:xfrm>
            <a:off x="17145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102">
            <a:extLst>
              <a:ext uri="{FF2B5EF4-FFF2-40B4-BE49-F238E27FC236}">
                <a16:creationId xmlns:a16="http://schemas.microsoft.com/office/drawing/2014/main" id="{2A95F020-5155-DA82-ED96-C124C0CF103D}"/>
              </a:ext>
            </a:extLst>
          </p:cNvPr>
          <p:cNvSpPr/>
          <p:nvPr/>
        </p:nvSpPr>
        <p:spPr>
          <a:xfrm>
            <a:off x="17145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 103">
            <a:extLst>
              <a:ext uri="{FF2B5EF4-FFF2-40B4-BE49-F238E27FC236}">
                <a16:creationId xmlns:a16="http://schemas.microsoft.com/office/drawing/2014/main" id="{4CB85A89-0D2C-E8A3-1E6D-C7183A55B078}"/>
              </a:ext>
            </a:extLst>
          </p:cNvPr>
          <p:cNvSpPr/>
          <p:nvPr/>
        </p:nvSpPr>
        <p:spPr>
          <a:xfrm>
            <a:off x="17510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hape 104">
            <a:extLst>
              <a:ext uri="{FF2B5EF4-FFF2-40B4-BE49-F238E27FC236}">
                <a16:creationId xmlns:a16="http://schemas.microsoft.com/office/drawing/2014/main" id="{EC795854-2422-46DE-79E2-F45E41749B5E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105">
            <a:extLst>
              <a:ext uri="{FF2B5EF4-FFF2-40B4-BE49-F238E27FC236}">
                <a16:creationId xmlns:a16="http://schemas.microsoft.com/office/drawing/2014/main" id="{DE019EE0-B252-82CA-4111-1E39241072E0}"/>
              </a:ext>
            </a:extLst>
          </p:cNvPr>
          <p:cNvSpPr/>
          <p:nvPr/>
        </p:nvSpPr>
        <p:spPr>
          <a:xfrm>
            <a:off x="20711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06">
            <a:extLst>
              <a:ext uri="{FF2B5EF4-FFF2-40B4-BE49-F238E27FC236}">
                <a16:creationId xmlns:a16="http://schemas.microsoft.com/office/drawing/2014/main" id="{BE3CA452-0416-8DCF-578D-6BFA31330A3E}"/>
              </a:ext>
            </a:extLst>
          </p:cNvPr>
          <p:cNvSpPr/>
          <p:nvPr/>
        </p:nvSpPr>
        <p:spPr>
          <a:xfrm>
            <a:off x="29077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Shape 107">
            <a:extLst>
              <a:ext uri="{FF2B5EF4-FFF2-40B4-BE49-F238E27FC236}">
                <a16:creationId xmlns:a16="http://schemas.microsoft.com/office/drawing/2014/main" id="{B2CB871B-079F-C340-3F60-72C91FD8D647}"/>
              </a:ext>
            </a:extLst>
          </p:cNvPr>
          <p:cNvSpPr/>
          <p:nvPr/>
        </p:nvSpPr>
        <p:spPr>
          <a:xfrm>
            <a:off x="29718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08">
            <a:extLst>
              <a:ext uri="{FF2B5EF4-FFF2-40B4-BE49-F238E27FC236}">
                <a16:creationId xmlns:a16="http://schemas.microsoft.com/office/drawing/2014/main" id="{A81F17D4-F37A-4B30-698B-D8DDE666A8D1}"/>
              </a:ext>
            </a:extLst>
          </p:cNvPr>
          <p:cNvSpPr/>
          <p:nvPr/>
        </p:nvSpPr>
        <p:spPr>
          <a:xfrm>
            <a:off x="29718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109">
            <a:extLst>
              <a:ext uri="{FF2B5EF4-FFF2-40B4-BE49-F238E27FC236}">
                <a16:creationId xmlns:a16="http://schemas.microsoft.com/office/drawing/2014/main" id="{F4CED1CE-B2B2-2DB8-98A5-C90A01E333B7}"/>
              </a:ext>
            </a:extLst>
          </p:cNvPr>
          <p:cNvSpPr/>
          <p:nvPr/>
        </p:nvSpPr>
        <p:spPr>
          <a:xfrm>
            <a:off x="30083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Shape 110">
            <a:extLst>
              <a:ext uri="{FF2B5EF4-FFF2-40B4-BE49-F238E27FC236}">
                <a16:creationId xmlns:a16="http://schemas.microsoft.com/office/drawing/2014/main" id="{48CA67CB-7451-AF7D-9A09-7675903910E7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111">
            <a:extLst>
              <a:ext uri="{FF2B5EF4-FFF2-40B4-BE49-F238E27FC236}">
                <a16:creationId xmlns:a16="http://schemas.microsoft.com/office/drawing/2014/main" id="{CAC79D66-59AB-8313-50FD-164FCD505004}"/>
              </a:ext>
            </a:extLst>
          </p:cNvPr>
          <p:cNvSpPr/>
          <p:nvPr/>
        </p:nvSpPr>
        <p:spPr>
          <a:xfrm>
            <a:off x="33284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12">
            <a:extLst>
              <a:ext uri="{FF2B5EF4-FFF2-40B4-BE49-F238E27FC236}">
                <a16:creationId xmlns:a16="http://schemas.microsoft.com/office/drawing/2014/main" id="{5CA4E29A-8E15-ADA8-B35D-64C15848617A}"/>
              </a:ext>
            </a:extLst>
          </p:cNvPr>
          <p:cNvSpPr/>
          <p:nvPr/>
        </p:nvSpPr>
        <p:spPr>
          <a:xfrm>
            <a:off x="41650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113">
            <a:extLst>
              <a:ext uri="{FF2B5EF4-FFF2-40B4-BE49-F238E27FC236}">
                <a16:creationId xmlns:a16="http://schemas.microsoft.com/office/drawing/2014/main" id="{B2EC3436-04A3-FC3A-041E-61122F5165EA}"/>
              </a:ext>
            </a:extLst>
          </p:cNvPr>
          <p:cNvSpPr/>
          <p:nvPr/>
        </p:nvSpPr>
        <p:spPr>
          <a:xfrm>
            <a:off x="42291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14">
            <a:extLst>
              <a:ext uri="{FF2B5EF4-FFF2-40B4-BE49-F238E27FC236}">
                <a16:creationId xmlns:a16="http://schemas.microsoft.com/office/drawing/2014/main" id="{E6103011-55F7-8FB1-39EA-E4FE2A7B4024}"/>
              </a:ext>
            </a:extLst>
          </p:cNvPr>
          <p:cNvSpPr/>
          <p:nvPr/>
        </p:nvSpPr>
        <p:spPr>
          <a:xfrm>
            <a:off x="42291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15">
            <a:extLst>
              <a:ext uri="{FF2B5EF4-FFF2-40B4-BE49-F238E27FC236}">
                <a16:creationId xmlns:a16="http://schemas.microsoft.com/office/drawing/2014/main" id="{417C8CD1-D8F4-38DC-2F96-F7826268E6C8}"/>
              </a:ext>
            </a:extLst>
          </p:cNvPr>
          <p:cNvSpPr/>
          <p:nvPr/>
        </p:nvSpPr>
        <p:spPr>
          <a:xfrm>
            <a:off x="42656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16">
            <a:extLst>
              <a:ext uri="{FF2B5EF4-FFF2-40B4-BE49-F238E27FC236}">
                <a16:creationId xmlns:a16="http://schemas.microsoft.com/office/drawing/2014/main" id="{A8CBF7AD-955D-84F4-3A0F-0C8E0000A55E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7">
            <a:extLst>
              <a:ext uri="{FF2B5EF4-FFF2-40B4-BE49-F238E27FC236}">
                <a16:creationId xmlns:a16="http://schemas.microsoft.com/office/drawing/2014/main" id="{2BCF335C-46C7-1DE2-43BA-62E9A972C415}"/>
              </a:ext>
            </a:extLst>
          </p:cNvPr>
          <p:cNvSpPr/>
          <p:nvPr/>
        </p:nvSpPr>
        <p:spPr>
          <a:xfrm>
            <a:off x="45857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18">
            <a:extLst>
              <a:ext uri="{FF2B5EF4-FFF2-40B4-BE49-F238E27FC236}">
                <a16:creationId xmlns:a16="http://schemas.microsoft.com/office/drawing/2014/main" id="{0D0C5298-A919-FAAC-9634-EA2DD8C8AAAB}"/>
              </a:ext>
            </a:extLst>
          </p:cNvPr>
          <p:cNvSpPr/>
          <p:nvPr/>
        </p:nvSpPr>
        <p:spPr>
          <a:xfrm>
            <a:off x="54223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Shape 119">
            <a:extLst>
              <a:ext uri="{FF2B5EF4-FFF2-40B4-BE49-F238E27FC236}">
                <a16:creationId xmlns:a16="http://schemas.microsoft.com/office/drawing/2014/main" id="{67B9372B-D2FB-7A36-3CA5-0B1914AA383B}"/>
              </a:ext>
            </a:extLst>
          </p:cNvPr>
          <p:cNvSpPr/>
          <p:nvPr/>
        </p:nvSpPr>
        <p:spPr>
          <a:xfrm>
            <a:off x="54864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20">
            <a:extLst>
              <a:ext uri="{FF2B5EF4-FFF2-40B4-BE49-F238E27FC236}">
                <a16:creationId xmlns:a16="http://schemas.microsoft.com/office/drawing/2014/main" id="{F7B60A00-FE81-A42C-D307-5F8FF2D217F8}"/>
              </a:ext>
            </a:extLst>
          </p:cNvPr>
          <p:cNvSpPr/>
          <p:nvPr/>
        </p:nvSpPr>
        <p:spPr>
          <a:xfrm>
            <a:off x="54864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21">
            <a:extLst>
              <a:ext uri="{FF2B5EF4-FFF2-40B4-BE49-F238E27FC236}">
                <a16:creationId xmlns:a16="http://schemas.microsoft.com/office/drawing/2014/main" id="{BC9B6346-ACBD-FF9C-3C9A-743BFB0DDB8C}"/>
              </a:ext>
            </a:extLst>
          </p:cNvPr>
          <p:cNvSpPr/>
          <p:nvPr/>
        </p:nvSpPr>
        <p:spPr>
          <a:xfrm>
            <a:off x="55229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22">
            <a:extLst>
              <a:ext uri="{FF2B5EF4-FFF2-40B4-BE49-F238E27FC236}">
                <a16:creationId xmlns:a16="http://schemas.microsoft.com/office/drawing/2014/main" id="{D58A7423-CEA4-E9A2-1D33-70FBE286E0B2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23">
            <a:extLst>
              <a:ext uri="{FF2B5EF4-FFF2-40B4-BE49-F238E27FC236}">
                <a16:creationId xmlns:a16="http://schemas.microsoft.com/office/drawing/2014/main" id="{BF16B8C1-8A6E-1097-7A13-77BD08AF7D85}"/>
              </a:ext>
            </a:extLst>
          </p:cNvPr>
          <p:cNvSpPr/>
          <p:nvPr/>
        </p:nvSpPr>
        <p:spPr>
          <a:xfrm>
            <a:off x="58430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124">
            <a:extLst>
              <a:ext uri="{FF2B5EF4-FFF2-40B4-BE49-F238E27FC236}">
                <a16:creationId xmlns:a16="http://schemas.microsoft.com/office/drawing/2014/main" id="{9F74FD1B-6351-B1D8-8826-1DC97977668C}"/>
              </a:ext>
            </a:extLst>
          </p:cNvPr>
          <p:cNvSpPr/>
          <p:nvPr/>
        </p:nvSpPr>
        <p:spPr>
          <a:xfrm>
            <a:off x="66796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Shape 125">
            <a:extLst>
              <a:ext uri="{FF2B5EF4-FFF2-40B4-BE49-F238E27FC236}">
                <a16:creationId xmlns:a16="http://schemas.microsoft.com/office/drawing/2014/main" id="{75E2937F-77B6-B665-F9A2-BF174D68C0B2}"/>
              </a:ext>
            </a:extLst>
          </p:cNvPr>
          <p:cNvSpPr/>
          <p:nvPr/>
        </p:nvSpPr>
        <p:spPr>
          <a:xfrm>
            <a:off x="67437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Text 126">
            <a:extLst>
              <a:ext uri="{FF2B5EF4-FFF2-40B4-BE49-F238E27FC236}">
                <a16:creationId xmlns:a16="http://schemas.microsoft.com/office/drawing/2014/main" id="{1547AAE7-109E-158F-12D5-053C2C46CDE4}"/>
              </a:ext>
            </a:extLst>
          </p:cNvPr>
          <p:cNvSpPr/>
          <p:nvPr/>
        </p:nvSpPr>
        <p:spPr>
          <a:xfrm>
            <a:off x="67437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27">
            <a:extLst>
              <a:ext uri="{FF2B5EF4-FFF2-40B4-BE49-F238E27FC236}">
                <a16:creationId xmlns:a16="http://schemas.microsoft.com/office/drawing/2014/main" id="{07447F52-FD0A-6D21-9F3F-2A865FB09EF8}"/>
              </a:ext>
            </a:extLst>
          </p:cNvPr>
          <p:cNvSpPr/>
          <p:nvPr/>
        </p:nvSpPr>
        <p:spPr>
          <a:xfrm>
            <a:off x="67802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Billing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28">
            <a:extLst>
              <a:ext uri="{FF2B5EF4-FFF2-40B4-BE49-F238E27FC236}">
                <a16:creationId xmlns:a16="http://schemas.microsoft.com/office/drawing/2014/main" id="{FC7E6557-3F2E-2ECE-E9E0-95D427974C6D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solidFill>
            <a:srgbClr val="14143A"/>
          </a:solidFill>
          <a:ln w="12700">
            <a:solidFill>
              <a:srgbClr val="7B7B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 129">
            <a:extLst>
              <a:ext uri="{FF2B5EF4-FFF2-40B4-BE49-F238E27FC236}">
                <a16:creationId xmlns:a16="http://schemas.microsoft.com/office/drawing/2014/main" id="{E9F58009-F192-5F4A-A119-A79D87649193}"/>
              </a:ext>
            </a:extLst>
          </p:cNvPr>
          <p:cNvSpPr/>
          <p:nvPr/>
        </p:nvSpPr>
        <p:spPr>
          <a:xfrm>
            <a:off x="71003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B7B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130">
            <a:extLst>
              <a:ext uri="{FF2B5EF4-FFF2-40B4-BE49-F238E27FC236}">
                <a16:creationId xmlns:a16="http://schemas.microsoft.com/office/drawing/2014/main" id="{ED4F59C2-DEAC-3CFB-A5CC-B738BE860D94}"/>
              </a:ext>
            </a:extLst>
          </p:cNvPr>
          <p:cNvSpPr/>
          <p:nvPr/>
        </p:nvSpPr>
        <p:spPr>
          <a:xfrm>
            <a:off x="79369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hape 131">
            <a:extLst>
              <a:ext uri="{FF2B5EF4-FFF2-40B4-BE49-F238E27FC236}">
                <a16:creationId xmlns:a16="http://schemas.microsoft.com/office/drawing/2014/main" id="{3E61C9CE-997F-5958-D279-80CF06F234BA}"/>
              </a:ext>
            </a:extLst>
          </p:cNvPr>
          <p:cNvSpPr/>
          <p:nvPr/>
        </p:nvSpPr>
        <p:spPr>
          <a:xfrm>
            <a:off x="80010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132">
            <a:extLst>
              <a:ext uri="{FF2B5EF4-FFF2-40B4-BE49-F238E27FC236}">
                <a16:creationId xmlns:a16="http://schemas.microsoft.com/office/drawing/2014/main" id="{18B09CAA-6B59-77B8-DF03-BA4F8AC54EE2}"/>
              </a:ext>
            </a:extLst>
          </p:cNvPr>
          <p:cNvSpPr/>
          <p:nvPr/>
        </p:nvSpPr>
        <p:spPr>
          <a:xfrm>
            <a:off x="80010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 133">
            <a:extLst>
              <a:ext uri="{FF2B5EF4-FFF2-40B4-BE49-F238E27FC236}">
                <a16:creationId xmlns:a16="http://schemas.microsoft.com/office/drawing/2014/main" id="{A4B541A7-4DFE-9919-2734-08822AED247F}"/>
              </a:ext>
            </a:extLst>
          </p:cNvPr>
          <p:cNvSpPr/>
          <p:nvPr/>
        </p:nvSpPr>
        <p:spPr>
          <a:xfrm>
            <a:off x="80375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134">
            <a:extLst>
              <a:ext uri="{FF2B5EF4-FFF2-40B4-BE49-F238E27FC236}">
                <a16:creationId xmlns:a16="http://schemas.microsoft.com/office/drawing/2014/main" id="{A60FFB32-276E-E145-4E1C-DAC74A4D8AC7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Text 135">
            <a:extLst>
              <a:ext uri="{FF2B5EF4-FFF2-40B4-BE49-F238E27FC236}">
                <a16:creationId xmlns:a16="http://schemas.microsoft.com/office/drawing/2014/main" id="{6D5A38AA-6206-AC03-E3C5-643F28C060C7}"/>
              </a:ext>
            </a:extLst>
          </p:cNvPr>
          <p:cNvSpPr/>
          <p:nvPr/>
        </p:nvSpPr>
        <p:spPr>
          <a:xfrm>
            <a:off x="83576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hape 136">
            <a:extLst>
              <a:ext uri="{FF2B5EF4-FFF2-40B4-BE49-F238E27FC236}">
                <a16:creationId xmlns:a16="http://schemas.microsoft.com/office/drawing/2014/main" id="{BEDC6AD5-BC0C-D4D6-7D15-A19409DEB87A}"/>
              </a:ext>
            </a:extLst>
          </p:cNvPr>
          <p:cNvSpPr/>
          <p:nvPr/>
        </p:nvSpPr>
        <p:spPr>
          <a:xfrm>
            <a:off x="91942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hape 137">
            <a:extLst>
              <a:ext uri="{FF2B5EF4-FFF2-40B4-BE49-F238E27FC236}">
                <a16:creationId xmlns:a16="http://schemas.microsoft.com/office/drawing/2014/main" id="{951E9669-C18E-D83F-7F29-6D44F3740CB6}"/>
              </a:ext>
            </a:extLst>
          </p:cNvPr>
          <p:cNvSpPr/>
          <p:nvPr/>
        </p:nvSpPr>
        <p:spPr>
          <a:xfrm>
            <a:off x="9258300" y="1453134"/>
            <a:ext cx="1188720" cy="694944"/>
          </a:xfrm>
          <a:prstGeom prst="rect">
            <a:avLst/>
          </a:prstGeom>
          <a:solidFill>
            <a:srgbClr val="0D1B2A"/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138">
            <a:extLst>
              <a:ext uri="{FF2B5EF4-FFF2-40B4-BE49-F238E27FC236}">
                <a16:creationId xmlns:a16="http://schemas.microsoft.com/office/drawing/2014/main" id="{5903B3CB-98E1-CE14-31E5-EF8BCBD8C633}"/>
              </a:ext>
            </a:extLst>
          </p:cNvPr>
          <p:cNvSpPr/>
          <p:nvPr/>
        </p:nvSpPr>
        <p:spPr>
          <a:xfrm>
            <a:off x="92583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Text 139">
            <a:extLst>
              <a:ext uri="{FF2B5EF4-FFF2-40B4-BE49-F238E27FC236}">
                <a16:creationId xmlns:a16="http://schemas.microsoft.com/office/drawing/2014/main" id="{8C3B0DFD-C038-CE33-8E6B-A88A93B0B312}"/>
              </a:ext>
            </a:extLst>
          </p:cNvPr>
          <p:cNvSpPr/>
          <p:nvPr/>
        </p:nvSpPr>
        <p:spPr>
          <a:xfrm>
            <a:off x="9294876" y="162687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8DC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Shape 140">
            <a:extLst>
              <a:ext uri="{FF2B5EF4-FFF2-40B4-BE49-F238E27FC236}">
                <a16:creationId xmlns:a16="http://schemas.microsoft.com/office/drawing/2014/main" id="{A44A0DD0-711C-6459-B508-EA05BB6C4BAF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solidFill>
            <a:srgbClr val="2A1A0A"/>
          </a:solidFill>
          <a:ln w="12700">
            <a:solidFill>
              <a:srgbClr val="E87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Text 141">
            <a:extLst>
              <a:ext uri="{FF2B5EF4-FFF2-40B4-BE49-F238E27FC236}">
                <a16:creationId xmlns:a16="http://schemas.microsoft.com/office/drawing/2014/main" id="{D9597F29-3FD3-B2DE-36ED-A6989A8E460F}"/>
              </a:ext>
            </a:extLst>
          </p:cNvPr>
          <p:cNvSpPr/>
          <p:nvPr/>
        </p:nvSpPr>
        <p:spPr>
          <a:xfrm>
            <a:off x="96149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87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142">
            <a:extLst>
              <a:ext uri="{FF2B5EF4-FFF2-40B4-BE49-F238E27FC236}">
                <a16:creationId xmlns:a16="http://schemas.microsoft.com/office/drawing/2014/main" id="{7C6FF088-2E8E-42D3-ABBF-89A9BA348665}"/>
              </a:ext>
            </a:extLst>
          </p:cNvPr>
          <p:cNvSpPr/>
          <p:nvPr/>
        </p:nvSpPr>
        <p:spPr>
          <a:xfrm>
            <a:off x="10451592" y="1800606"/>
            <a:ext cx="59436" cy="0"/>
          </a:xfrm>
          <a:prstGeom prst="line">
            <a:avLst/>
          </a:prstGeom>
          <a:noFill/>
          <a:ln w="7620">
            <a:solidFill>
              <a:srgbClr val="2A406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Shape 143">
            <a:extLst>
              <a:ext uri="{FF2B5EF4-FFF2-40B4-BE49-F238E27FC236}">
                <a16:creationId xmlns:a16="http://schemas.microsoft.com/office/drawing/2014/main" id="{0D413890-3CE4-6CDF-C0B9-9BAE77945CAB}"/>
              </a:ext>
            </a:extLst>
          </p:cNvPr>
          <p:cNvSpPr/>
          <p:nvPr/>
        </p:nvSpPr>
        <p:spPr>
          <a:xfrm>
            <a:off x="10515600" y="1453134"/>
            <a:ext cx="1188720" cy="6949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7620">
            <a:solidFill>
              <a:srgbClr val="1A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144">
            <a:extLst>
              <a:ext uri="{FF2B5EF4-FFF2-40B4-BE49-F238E27FC236}">
                <a16:creationId xmlns:a16="http://schemas.microsoft.com/office/drawing/2014/main" id="{01F624C8-B403-D56D-9F1D-CB31F5CD82F2}"/>
              </a:ext>
            </a:extLst>
          </p:cNvPr>
          <p:cNvSpPr/>
          <p:nvPr/>
        </p:nvSpPr>
        <p:spPr>
          <a:xfrm>
            <a:off x="10515600" y="149885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00" normalizeH="0" baseline="0" noProof="0" dirty="0">
                <a:ln>
                  <a:noFill/>
                </a:ln>
                <a:solidFill>
                  <a:srgbClr val="2A5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 145">
            <a:extLst>
              <a:ext uri="{FF2B5EF4-FFF2-40B4-BE49-F238E27FC236}">
                <a16:creationId xmlns:a16="http://schemas.microsoft.com/office/drawing/2014/main" id="{3DC00514-4A53-B87F-0BE5-E68A576DC1A5}"/>
              </a:ext>
            </a:extLst>
          </p:cNvPr>
          <p:cNvSpPr/>
          <p:nvPr/>
        </p:nvSpPr>
        <p:spPr>
          <a:xfrm>
            <a:off x="10552176" y="165544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Shape 146">
            <a:extLst>
              <a:ext uri="{FF2B5EF4-FFF2-40B4-BE49-F238E27FC236}">
                <a16:creationId xmlns:a16="http://schemas.microsoft.com/office/drawing/2014/main" id="{2304D46E-2AF7-68F7-726C-F024C1B81638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solidFill>
            <a:srgbClr val="0A2A1E"/>
          </a:solidFill>
          <a:ln w="12700">
            <a:solidFill>
              <a:srgbClr val="1DC9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 147">
            <a:extLst>
              <a:ext uri="{FF2B5EF4-FFF2-40B4-BE49-F238E27FC236}">
                <a16:creationId xmlns:a16="http://schemas.microsoft.com/office/drawing/2014/main" id="{B592A9DC-3C4C-6559-E97C-3332A855B533}"/>
              </a:ext>
            </a:extLst>
          </p:cNvPr>
          <p:cNvSpPr/>
          <p:nvPr/>
        </p:nvSpPr>
        <p:spPr>
          <a:xfrm>
            <a:off x="10872216" y="1974342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C9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4F62E6A-C3C0-8596-82BE-19F1BD87B86C}"/>
              </a:ext>
            </a:extLst>
          </p:cNvPr>
          <p:cNvSpPr/>
          <p:nvPr/>
        </p:nvSpPr>
        <p:spPr>
          <a:xfrm>
            <a:off x="314325" y="2543175"/>
            <a:ext cx="11561445" cy="356679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173DA00-3EE8-F520-F448-AC804BBCB88F}"/>
              </a:ext>
            </a:extLst>
          </p:cNvPr>
          <p:cNvSpPr/>
          <p:nvPr/>
        </p:nvSpPr>
        <p:spPr>
          <a:xfrm>
            <a:off x="628650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C27A5EB-DBA4-E3F1-BF10-749EF8C8FDE6}"/>
              </a:ext>
            </a:extLst>
          </p:cNvPr>
          <p:cNvSpPr/>
          <p:nvPr/>
        </p:nvSpPr>
        <p:spPr>
          <a:xfrm>
            <a:off x="4375785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BA16764-DA39-443D-F7BD-A0DDBDD8DD94}"/>
              </a:ext>
            </a:extLst>
          </p:cNvPr>
          <p:cNvSpPr/>
          <p:nvPr/>
        </p:nvSpPr>
        <p:spPr>
          <a:xfrm>
            <a:off x="8153402" y="441102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36669D1-DECE-16DF-8D79-ACC316FB2E07}"/>
              </a:ext>
            </a:extLst>
          </p:cNvPr>
          <p:cNvSpPr/>
          <p:nvPr/>
        </p:nvSpPr>
        <p:spPr>
          <a:xfrm>
            <a:off x="4390072" y="2890837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1B1DD71-962F-0E8C-2D14-16DA385033D6}"/>
              </a:ext>
            </a:extLst>
          </p:cNvPr>
          <p:cNvSpPr/>
          <p:nvPr/>
        </p:nvSpPr>
        <p:spPr>
          <a:xfrm>
            <a:off x="628650" y="4431346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747AFCF-DDA0-9249-E0AD-7FB52985F1A3}"/>
              </a:ext>
            </a:extLst>
          </p:cNvPr>
          <p:cNvSpPr/>
          <p:nvPr/>
        </p:nvSpPr>
        <p:spPr>
          <a:xfrm>
            <a:off x="8137779" y="2904834"/>
            <a:ext cx="3409950" cy="12944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756F387-4A03-6B3F-14DC-B1F765A3CAF4}"/>
              </a:ext>
            </a:extLst>
          </p:cNvPr>
          <p:cNvSpPr txBox="1"/>
          <p:nvPr/>
        </p:nvSpPr>
        <p:spPr>
          <a:xfrm>
            <a:off x="756666" y="3028950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Mode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779747-978C-6EE6-296D-9F83536ED5BF}"/>
              </a:ext>
            </a:extLst>
          </p:cNvPr>
          <p:cNvSpPr txBox="1"/>
          <p:nvPr/>
        </p:nvSpPr>
        <p:spPr>
          <a:xfrm>
            <a:off x="4557141" y="4497705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DEB82B-76BE-F44A-0273-E4A507DBF2A9}"/>
              </a:ext>
            </a:extLst>
          </p:cNvPr>
          <p:cNvSpPr txBox="1"/>
          <p:nvPr/>
        </p:nvSpPr>
        <p:spPr>
          <a:xfrm>
            <a:off x="4528566" y="3024664"/>
            <a:ext cx="1072134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07A20E-168E-32C5-3285-52AEEFE47D33}"/>
              </a:ext>
            </a:extLst>
          </p:cNvPr>
          <p:cNvSpPr txBox="1"/>
          <p:nvPr/>
        </p:nvSpPr>
        <p:spPr>
          <a:xfrm>
            <a:off x="8300466" y="3019410"/>
            <a:ext cx="1504188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Actions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9BACA5-DABA-AB70-92C4-5025E46A75D0}"/>
              </a:ext>
            </a:extLst>
          </p:cNvPr>
          <p:cNvSpPr txBox="1"/>
          <p:nvPr/>
        </p:nvSpPr>
        <p:spPr>
          <a:xfrm>
            <a:off x="772286" y="4507215"/>
            <a:ext cx="2498979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EHR Data Accessed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41142CA-96AF-4488-3B7C-E78FD15C924D}"/>
              </a:ext>
            </a:extLst>
          </p:cNvPr>
          <p:cNvSpPr txBox="1"/>
          <p:nvPr/>
        </p:nvSpPr>
        <p:spPr>
          <a:xfrm>
            <a:off x="8357616" y="4507215"/>
            <a:ext cx="1431417" cy="295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DFE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KPI Impact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2915E8-6555-B5F5-34E6-C1EA91834D1C}"/>
              </a:ext>
            </a:extLst>
          </p:cNvPr>
          <p:cNvSpPr txBox="1"/>
          <p:nvPr/>
        </p:nvSpPr>
        <p:spPr>
          <a:xfrm>
            <a:off x="738568" y="3332161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Autonomous posting; propensity guided outreach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9E0808-4187-CDB7-5387-5C572CDD3ED0}"/>
              </a:ext>
            </a:extLst>
          </p:cNvPr>
          <p:cNvSpPr txBox="1"/>
          <p:nvPr/>
        </p:nvSpPr>
        <p:spPr>
          <a:xfrm>
            <a:off x="4499990" y="3376872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Payment posting + Collections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B47502-A985-4533-ADB9-FCFAD9060E30}"/>
              </a:ext>
            </a:extLst>
          </p:cNvPr>
          <p:cNvSpPr txBox="1"/>
          <p:nvPr/>
        </p:nvSpPr>
        <p:spPr>
          <a:xfrm>
            <a:off x="8332468" y="3210497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ERA/EOB matching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Contractual adjustment validation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Underpayment detection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Patient balance segmentation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Personalized payment plans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799756-1B2F-8C07-D6D1-CD4E3BCA7FAF}"/>
              </a:ext>
            </a:extLst>
          </p:cNvPr>
          <p:cNvSpPr txBox="1"/>
          <p:nvPr/>
        </p:nvSpPr>
        <p:spPr>
          <a:xfrm>
            <a:off x="772286" y="4886310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Remit files, charge master, patient balances, payment history, collection status flags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24DB21-B3BD-29DA-5C7B-256C712B04D9}"/>
              </a:ext>
            </a:extLst>
          </p:cNvPr>
          <p:cNvSpPr txBox="1"/>
          <p:nvPr/>
        </p:nvSpPr>
        <p:spPr>
          <a:xfrm>
            <a:off x="4589145" y="4870118"/>
            <a:ext cx="3190114" cy="476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Zero-balance reconciliation with variance report, patient outreach sequenced by propensity-to-pay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1FEC64-EA05-025D-7979-C53D7E7764D4}"/>
              </a:ext>
            </a:extLst>
          </p:cNvPr>
          <p:cNvSpPr txBox="1"/>
          <p:nvPr/>
        </p:nvSpPr>
        <p:spPr>
          <a:xfrm>
            <a:off x="8467724" y="4840445"/>
            <a:ext cx="3064383" cy="21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Reduction in A/R days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42016BF-4844-85FF-2356-D0BE26AD87F8}"/>
              </a:ext>
            </a:extLst>
          </p:cNvPr>
          <p:cNvCxnSpPr>
            <a:cxnSpLocks/>
          </p:cNvCxnSpPr>
          <p:nvPr/>
        </p:nvCxnSpPr>
        <p:spPr>
          <a:xfrm flipV="1">
            <a:off x="8433816" y="50882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0CB9FA7-55FB-F267-0377-83CBB4815024}"/>
              </a:ext>
            </a:extLst>
          </p:cNvPr>
          <p:cNvCxnSpPr>
            <a:cxnSpLocks/>
          </p:cNvCxnSpPr>
          <p:nvPr/>
        </p:nvCxnSpPr>
        <p:spPr>
          <a:xfrm>
            <a:off x="8424291" y="4819650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3E8155F-7FF5-36B6-F429-D9524315803E}"/>
              </a:ext>
            </a:extLst>
          </p:cNvPr>
          <p:cNvSpPr txBox="1"/>
          <p:nvPr/>
        </p:nvSpPr>
        <p:spPr>
          <a:xfrm>
            <a:off x="8477630" y="5021297"/>
            <a:ext cx="2609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net collection 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70D00-BFBB-6668-15C2-D9DB2B959AFA}"/>
              </a:ext>
            </a:extLst>
          </p:cNvPr>
          <p:cNvSpPr txBox="1"/>
          <p:nvPr/>
        </p:nvSpPr>
        <p:spPr>
          <a:xfrm>
            <a:off x="8494775" y="5279969"/>
            <a:ext cx="2609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Improved auto-posting rates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4BBEE7E-0C40-4067-9B3C-94421964119F}"/>
              </a:ext>
            </a:extLst>
          </p:cNvPr>
          <p:cNvCxnSpPr>
            <a:cxnSpLocks/>
          </p:cNvCxnSpPr>
          <p:nvPr/>
        </p:nvCxnSpPr>
        <p:spPr>
          <a:xfrm flipV="1">
            <a:off x="8443341" y="5316855"/>
            <a:ext cx="0" cy="217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76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EF99A-380D-C7A6-98C8-917D97C760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97778"/>
      </p:ext>
    </p:extLst>
  </p:cSld>
  <p:clrMapOvr>
    <a:masterClrMapping/>
  </p:clrMapOvr>
</p:sld>
</file>

<file path=ppt/theme/theme1.xml><?xml version="1.0" encoding="utf-8"?>
<a:theme xmlns:a="http://schemas.openxmlformats.org/drawingml/2006/main" name="3_NTT DATA LIGHT ">
  <a:themeElements>
    <a:clrScheme name="NTT DATA 23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7F7F7F"/>
      </a:accent6>
      <a:hlink>
        <a:srgbClr val="19A3FC"/>
      </a:hlink>
      <a:folHlink>
        <a:srgbClr val="0072BC"/>
      </a:folHlink>
    </a:clrScheme>
    <a:fontScheme name="NTT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PowerPoint_Template.potx" id="{AA7D3378-B956-4140-AEE9-2D999DD9EEA1}" vid="{7A61260B-B45B-4773-8AA0-2FBF11BC78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1464</Words>
  <Application>Microsoft Office PowerPoint</Application>
  <PresentationFormat>Widescreen</PresentationFormat>
  <Paragraphs>644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Georgia</vt:lpstr>
      <vt:lpstr>Roboto</vt:lpstr>
      <vt:lpstr>3_NTT DATA LIGHT </vt:lpstr>
      <vt:lpstr>PowerPoint Presentation</vt:lpstr>
      <vt:lpstr>AI Led RCM Operating Model</vt:lpstr>
      <vt:lpstr>AI Led RCM Operating Model</vt:lpstr>
      <vt:lpstr>AI Led RCM Operating Model</vt:lpstr>
      <vt:lpstr>AI Led RCM Operating Model</vt:lpstr>
      <vt:lpstr>AI Led RCM Operating Model</vt:lpstr>
      <vt:lpstr>AI Led RCM Operating Model</vt:lpstr>
      <vt:lpstr>AI Led RCM Operating Model</vt:lpstr>
      <vt:lpstr>AI Led RCM Operating Model</vt:lpstr>
      <vt:lpstr>AI Led RCM Operating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Kotru</dc:creator>
  <cp:lastModifiedBy>Pallavi Kotru</cp:lastModifiedBy>
  <cp:revision>1</cp:revision>
  <dcterms:created xsi:type="dcterms:W3CDTF">2026-04-29T22:16:25Z</dcterms:created>
  <dcterms:modified xsi:type="dcterms:W3CDTF">2026-04-29T22:17:03Z</dcterms:modified>
</cp:coreProperties>
</file>